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929fbf97934635" /><Relationship Type="http://schemas.openxmlformats.org/officeDocument/2006/relationships/extended-properties" Target="/docProps/app.xml" Id="R827ec6e09ba144eb" /><Relationship Type="http://schemas.openxmlformats.org/officeDocument/2006/relationships/officeDocument" Target="/ppt/presentation.xml" Id="R9199b1b02782437f" /></Relationships>
</file>

<file path=ppt/presentation.xml><?xml version="1.0" encoding="utf-8"?>
<p:presentation xmlns:p="http://schemas.openxmlformats.org/presentationml/2006/main">
  <p:sldMasterIdLst>
    <p:sldMasterId xmlns:r="http://schemas.openxmlformats.org/officeDocument/2006/relationships" id="2147483648" r:id="R7bf09939706549ac"/>
  </p:sldMasterIdLst>
  <p:notesMasterIdLst>
    <p:notesMasterId xmlns:r="http://schemas.openxmlformats.org/officeDocument/2006/relationships" r:id="R6fe9b5075d7d4d75"/>
  </p:notesMasterIdLst>
  <p:sldIdLst>
    <p:sldId xmlns:r="http://schemas.openxmlformats.org/officeDocument/2006/relationships" id="256" r:id="R4efc0fa5d58b4f64"/>
  </p:sldIdLst>
  <p:sldSz cx="30279975" cy="428053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504d51e6774f59" /><Relationship Type="http://schemas.openxmlformats.org/officeDocument/2006/relationships/slideMaster" Target="/ppt/slideMasters/slideMaster1.xml" Id="R7bf09939706549ac" /><Relationship Type="http://schemas.openxmlformats.org/officeDocument/2006/relationships/notesMaster" Target="/ppt/notesMasters/notesMaster1.xml" Id="R6fe9b5075d7d4d75" /><Relationship Type="http://schemas.openxmlformats.org/officeDocument/2006/relationships/presProps" Target="/ppt/presProps.xml" Id="Rc1fbd9554e254e27" /><Relationship Type="http://schemas.openxmlformats.org/officeDocument/2006/relationships/tableStyles" Target="/ppt/tableStyles.xml" Id="Rcd980f8905bd4432" /><Relationship Type="http://schemas.openxmlformats.org/officeDocument/2006/relationships/slide" Target="/ppt/slides/slide1.xml" Id="R4efc0fa5d58b4f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f48c7177d741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a3f04fa9e34ab4" /><Relationship Type="http://schemas.openxmlformats.org/officeDocument/2006/relationships/notesMaster" Target="/ppt/notesMasters/notesMaster1.xml" Id="R4a695d4e5b0249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Local corpus metadata: C:/Users/nicop/Documents/GitHub/nlpArgentina/data/processed/tec/2026-07-23/processing_manifest.json</a:t>
            </a:r>
          </a:p>
          <a:p xmlns:a="http://schemas.openxmlformats.org/drawingml/2006/main">
            <a:r>
              <a:t>- Local index metadata: C:/Users/nicop/Documents/GitHub/nlpArgentina/data/indexes/tec/2026-07-23/multilingual-e5-small/index_manifest.json</a:t>
            </a:r>
          </a:p>
          <a:p xmlns:a="http://schemas.openxmlformats.org/drawingml/2006/main">
            <a:r>
              <a:t>- Retrieval evaluation: C:/Users/nicop/Documents/GitHub/nlpArgentina/results/retrieval/2026-07-23/multilingual-e5-small/summary.json</a:t>
            </a:r>
          </a:p>
          <a:p xmlns:a="http://schemas.openxmlformats.org/drawingml/2006/main">
            <a:r>
              <a:t>- Automatic RAG evaluation: C:/Users/nicop/Documents/GitHub/nlpArgentina/results/rag-evaluation/2026-07-28/qwen3.5-9b-normalized-citations/summary.json</a:t>
            </a:r>
          </a:p>
          <a:p xmlns:a="http://schemas.openxmlformats.org/drawingml/2006/main">
            <a:r>
              <a:t>- Human review: C:/Users/nicop/Documents/GitHub/nlpArgentina/outputs/rag-manual-review-20260728/revision_manual_rag_completada.xlsx</a:t>
            </a:r>
          </a:p>
          <a:p xmlns:a="http://schemas.openxmlformats.org/drawingml/2006/main">
            <a:r>
              <a:t>- Decision log: C:/Users/nicop/Documents/GitHub/nlpArgentina/docs/05-bitacora-revision-manual.md</a:t>
            </a:r>
          </a:p>
          <a:p xmlns:a="http://schemas.openxmlformats.org/drawingml/2006/main">
            <a:r>
              <a:t>- Repository: https://github.com/niparra21/nlpArgentina</a:t>
            </a:r>
          </a:p>
          <a:p xmlns:a="http://schemas.openxmlformats.org/drawingml/2006/main">
            <a:r>
              <a:t>- Lewis et al. 2020: https://arxiv.org/abs/2005.11401</a:t>
            </a:r>
          </a:p>
          <a:p xmlns:a="http://schemas.openxmlformats.org/drawingml/2006/main">
            <a:r>
              <a:t>- Wang et al. 2024: https://arxiv.org/abs/2402.05672</a:t>
            </a:r>
          </a:p>
          <a:p xmlns:a="http://schemas.openxmlformats.org/drawingml/2006/main">
            <a:r>
              <a:t>- TEC sources: https://www.tec.ac.cr/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e44911193845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81150e41304b14" /><Relationship Type="http://schemas.openxmlformats.org/officeDocument/2006/relationships/slideLayout" Target="/ppt/slideLayouts/slideLayout1.xml" Id="Rf98c1fde16dd42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8c1fde16dd42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08abf447d24c37" /><Relationship Type="http://schemas.openxmlformats.org/officeDocument/2006/relationships/chart" Target="/ppt/slides/charts/chart1.xml" Id="R6a3d196917904655" /><Relationship Type="http://schemas.openxmlformats.org/officeDocument/2006/relationships/hyperlink" Target="https://github.com/niparra21/nlpArgentina" TargetMode="External" Id="Rdce88f89efdd463b" /><Relationship Type="http://schemas.openxmlformats.org/officeDocument/2006/relationships/notesSlide" Target="/ppt/notesSlides/notesSlide1.xml" Id="Re998bea1dc7b4285" /></Relationships>
</file>

<file path=ppt/slides/charts/chart1.xml><?xml version="1.0" encoding="utf-8"?>
<c:chartSpace xmlns:c="http://schemas.openxmlformats.org/drawingml/2006/chart">
  <c:lang val="en-US"/>
  <c:chart>
    <c:plotArea>
      <c:barChart>
        <c:barDir val="bar"/>
        <c:grouping val="clustered"/>
        <c:varyColors val="0"/>
        <c:ser>
          <c:idx val="0"/>
          <c:order val="0"/>
          <c:tx>
            <c:v>Aprobación</c:v>
          </c:tx>
          <c:spPr>
            <a:solidFill xmlns:a="http://schemas.openxmlformats.org/drawingml/2006/main">
              <a:srgbClr val="2D6CDF"/>
            </a:solidFill>
          </c:spPr>
          <c:cat>
            <c:strLit>
              <c:ptCount val="3"/>
              <c:pt idx="0">
                <c:v>Directas · 19/25</c:v>
              </c:pt>
              <c:pt idx="1">
                <c:v>Varias secciones · 2/8</c:v>
              </c:pt>
              <c:pt idx="2">
                <c:v>No respondibles · 7/7</c:v>
              </c:pt>
            </c:strLit>
          </c:cat>
          <c:val>
            <c:numLit>
              <c:formatCode>0"%"</c:formatCode>
              <c:ptCount val="3"/>
              <c:pt idx="0">
                <c:v>76</c:v>
              </c:pt>
              <c:pt idx="1">
                <c:v>25</c:v>
              </c:pt>
              <c:pt idx="2">
                <c:v>100</c:v>
              </c:pt>
            </c:numLit>
          </c:val>
        </c:ser>
        <c:dLbls>
          <c:txPr>
            <a:bodyPr xmlns:a="http://schemas.openxmlformats.org/drawingml/2006/main" anchorCtr="1"/>
            <a:lstStyle xmlns:a="http://schemas.openxmlformats.org/drawingml/2006/main"/>
            <a:p xmlns:a="http://schemas.openxmlformats.org/drawingml/2006/main">
              <a:pPr>
                <a:defRPr sz="1800" b="1">
                  <a:solidFill>
                    <a:srgbClr val="102A43"/>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F3F5F7"/>
              </a:solidFill>
              <a:prstDash val="solid"/>
            </a:ln>
          </c:spPr>
        </c:majorGridlines>
        <c:numFmt formatCode="0&quot;%&quot;"/>
        <c:majorTickMark val="none"/>
        <c:minorTickMark val="none"/>
        <c:spPr>
          <a:ln xmlns:a="http://schemas.openxmlformats.org/drawingml/2006/main" w="9525">
            <a:solidFill>
              <a:srgbClr val="CBD2D9"/>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06D"/>
                </a:solidFill>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725" b="1">
                <a:solidFill>
                  <a:srgbClr val="102A43"/>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3" name="event-eyebrow">
            <a:extLst xmlns:a="http://schemas.openxmlformats.org/drawingml/2006/main">
              <a:ext uri="{FF2B5EF4-FFF2-40B4-BE49-F238E27FC236}">
                <a16:creationId xmlns:a16="http://schemas.microsoft.com/office/drawing/2014/main" id="{DE6AAD59-D820-4909-9DE3-B2B104DAC8CF}"/>
              </a:ext>
            </a:extLst>
          </p:cNvPr>
          <p:cNvSpPr>
            <a:spLocks xmlns:a="http://schemas.openxmlformats.org/drawingml/2006/main" noGrp="1"/>
          </p:cNvSpPr>
          <p:nvPr/>
        </p:nvSpPr>
        <p:spPr>
          <a:xfrm xmlns:a="http://schemas.openxmlformats.org/drawingml/2006/main">
            <a:off x="1143000" y="685800"/>
            <a:ext cx="1809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725" b="1">
                <a:solidFill>
                  <a:srgbClr val="0F766E"/>
                </a:solidFill>
                <a:latin typeface="Arial"/>
                <a:ea typeface="Arial"/>
                <a:cs typeface="Arial"/>
              </a:defRPr>
            </a:pPr>
            <a:r>
              <a:rPr sz="1725" b="1">
                <a:solidFill>
                  <a:srgbClr val="0F766E"/>
                </a:solidFill>
                <a:latin typeface="Arial"/>
                <a:ea typeface="Arial"/>
                <a:cs typeface="Arial"/>
              </a:rPr>
              <a:t>SEGUNDA ESCUELA SUDAMERICANA DE NLP · BUENOS AIRES · 2026</a:t>
            </a:r>
          </a:p>
        </p:txBody>
      </p:sp>
      <p:sp>
        <p:nvSpPr>
          <p:cNvPr id="2" name="poster-title">
            <a:extLst xmlns:a="http://schemas.openxmlformats.org/drawingml/2006/main">
              <a:ext uri="{FF2B5EF4-FFF2-40B4-BE49-F238E27FC236}">
                <a16:creationId xmlns:a16="http://schemas.microsoft.com/office/drawing/2014/main" id="{1E43914C-F549-4560-AD5F-686D5432E1BE}"/>
              </a:ext>
            </a:extLst>
          </p:cNvPr>
          <p:cNvSpPr>
            <a:spLocks xmlns:a="http://schemas.openxmlformats.org/drawingml/2006/main" noGrp="1"/>
          </p:cNvSpPr>
          <p:nvPr/>
        </p:nvSpPr>
        <p:spPr>
          <a:xfrm xmlns:a="http://schemas.openxmlformats.org/drawingml/2006/main">
            <a:off x="1143000" y="1314450"/>
            <a:ext cx="27993975"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7800" b="1">
                <a:solidFill>
                  <a:srgbClr val="102A43"/>
                </a:solidFill>
                <a:latin typeface="Arial"/>
                <a:ea typeface="Arial"/>
                <a:cs typeface="Arial"/>
              </a:defRPr>
            </a:pPr>
            <a:r>
              <a:rPr sz="7800" b="1">
                <a:solidFill>
                  <a:srgbClr val="102A43"/>
                </a:solidFill>
                <a:latin typeface="Arial"/>
                <a:ea typeface="Arial"/>
                <a:cs typeface="Arial"/>
              </a:rPr>
              <a:t>Diseño arquitectónico mínimo para sistemas RAG</a:t>
            </a:r>
          </a:p>
          <a:p xmlns:a="http://schemas.openxmlformats.org/drawingml/2006/main">
            <a:pPr algn="l">
              <a:lnSpc>
                <a:spcPct val="90000"/>
              </a:lnSpc>
              <a:buNone/>
              <a:defRPr sz="7800" b="1">
                <a:solidFill>
                  <a:srgbClr val="102A43"/>
                </a:solidFill>
                <a:latin typeface="Arial"/>
                <a:ea typeface="Arial"/>
                <a:cs typeface="Arial"/>
              </a:defRPr>
            </a:pPr>
            <a:r>
              <a:rPr sz="7800" b="1">
                <a:solidFill>
                  <a:srgbClr val="102A43"/>
                </a:solidFill>
                <a:latin typeface="Arial"/>
                <a:ea typeface="Arial"/>
                <a:cs typeface="Arial"/>
              </a:rPr>
              <a:t>observables en español latinoamericano</a:t>
            </a:r>
          </a:p>
        </p:txBody>
      </p:sp>
      <p:sp>
        <p:nvSpPr>
          <p:cNvPr id="3" name="author">
            <a:extLst xmlns:a="http://schemas.openxmlformats.org/drawingml/2006/main">
              <a:ext uri="{FF2B5EF4-FFF2-40B4-BE49-F238E27FC236}">
                <a16:creationId xmlns:a16="http://schemas.microsoft.com/office/drawing/2014/main" id="{880F1C5A-8BA0-45DA-9741-51FDEFFB72B4}"/>
              </a:ext>
            </a:extLst>
          </p:cNvPr>
          <p:cNvSpPr>
            <a:spLocks xmlns:a="http://schemas.openxmlformats.org/drawingml/2006/main" noGrp="1"/>
          </p:cNvSpPr>
          <p:nvPr/>
        </p:nvSpPr>
        <p:spPr>
          <a:xfrm xmlns:a="http://schemas.openxmlformats.org/drawingml/2006/main">
            <a:off x="1143000" y="4048125"/>
            <a:ext cx="1714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475" b="1">
                <a:solidFill>
                  <a:srgbClr val="102A43"/>
                </a:solidFill>
                <a:latin typeface="Arial"/>
                <a:ea typeface="Arial"/>
                <a:cs typeface="Arial"/>
              </a:defRPr>
            </a:pPr>
            <a:r>
              <a:rPr sz="2475" b="1">
                <a:solidFill>
                  <a:srgbClr val="102A43"/>
                </a:solidFill>
                <a:latin typeface="Arial"/>
                <a:ea typeface="Arial"/>
                <a:cs typeface="Arial"/>
              </a:rPr>
              <a:t>Nicole Tatiana Parra Valverde · Trabajo independiente</a:t>
            </a:r>
          </a:p>
        </p:txBody>
      </p:sp>
      <p:sp>
        <p:nvSpPr>
          <p:cNvPr id="4" name="case-study">
            <a:extLst xmlns:a="http://schemas.openxmlformats.org/drawingml/2006/main">
              <a:ext uri="{FF2B5EF4-FFF2-40B4-BE49-F238E27FC236}">
                <a16:creationId xmlns:a16="http://schemas.microsoft.com/office/drawing/2014/main" id="{A2903271-AD18-4BFC-A1D5-F0965FB69DE2}"/>
              </a:ext>
            </a:extLst>
          </p:cNvPr>
          <p:cNvSpPr>
            <a:spLocks xmlns:a="http://schemas.openxmlformats.org/drawingml/2006/main" noGrp="1"/>
          </p:cNvSpPr>
          <p:nvPr/>
        </p:nvSpPr>
        <p:spPr>
          <a:xfrm xmlns:a="http://schemas.openxmlformats.org/drawingml/2006/main">
            <a:off x="1143000" y="4648200"/>
            <a:ext cx="1714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025" b="0">
                <a:solidFill>
                  <a:srgbClr val="52606D"/>
                </a:solidFill>
                <a:latin typeface="Arial"/>
                <a:ea typeface="Arial"/>
                <a:cs typeface="Arial"/>
              </a:defRPr>
            </a:pPr>
            <a:r>
              <a:rPr sz="2025" b="0">
                <a:solidFill>
                  <a:srgbClr val="52606D"/>
                </a:solidFill>
                <a:latin typeface="Arial"/>
                <a:ea typeface="Arial"/>
                <a:cs typeface="Arial"/>
              </a:rPr>
              <a:t>Caso de estudio: normativa estudiantil del Tecnológico de Costa Rica</a:t>
            </a:r>
          </a:p>
        </p:txBody>
      </p:sp>
      <p:sp>
        <p:nvSpPr>
          <p:cNvPr id="5" name="lead-accent">
            <a:extLst xmlns:a="http://schemas.openxmlformats.org/drawingml/2006/main">
              <a:ext uri="{FF2B5EF4-FFF2-40B4-BE49-F238E27FC236}">
                <a16:creationId xmlns:a16="http://schemas.microsoft.com/office/drawing/2014/main" id="{6E41251E-FCD8-4FE5-8E9C-D01D02F2E40F}"/>
              </a:ext>
            </a:extLst>
          </p:cNvPr>
          <p:cNvSpPr>
            <a:spLocks xmlns:a="http://schemas.openxmlformats.org/drawingml/2006/main" noGrp="1"/>
          </p:cNvSpPr>
          <p:nvPr/>
        </p:nvSpPr>
        <p:spPr>
          <a:xfrm xmlns:a="http://schemas.openxmlformats.org/drawingml/2006/main">
            <a:off x="19526250" y="4000500"/>
            <a:ext cx="114300" cy="1504950"/>
          </a:xfrm>
          <a:prstGeom xmlns:a="http://schemas.openxmlformats.org/drawingml/2006/main" prst="rect">
            <a:avLst/>
          </a:prstGeom>
          <a:solidFill xmlns:a="http://schemas.openxmlformats.org/drawingml/2006/main">
            <a:srgbClr val="2D6CDF"/>
          </a:solidFill>
          <a:ln xmlns:a="http://schemas.openxmlformats.org/drawingml/2006/main" w="0">
            <a:noFill/>
            <a:prstDash val="solid"/>
          </a:ln>
        </p:spPr>
      </p:sp>
      <p:sp>
        <p:nvSpPr>
          <p:cNvPr id="6" name="lead">
            <a:extLst xmlns:a="http://schemas.openxmlformats.org/drawingml/2006/main">
              <a:ext uri="{FF2B5EF4-FFF2-40B4-BE49-F238E27FC236}">
                <a16:creationId xmlns:a16="http://schemas.microsoft.com/office/drawing/2014/main" id="{EEAE3EB5-20EB-4BEB-9BDD-AA3443FB8F9A}"/>
              </a:ext>
            </a:extLst>
          </p:cNvPr>
          <p:cNvSpPr>
            <a:spLocks xmlns:a="http://schemas.openxmlformats.org/drawingml/2006/main" noGrp="1"/>
          </p:cNvSpPr>
          <p:nvPr/>
        </p:nvSpPr>
        <p:spPr>
          <a:xfrm xmlns:a="http://schemas.openxmlformats.org/drawingml/2006/main">
            <a:off x="19888200" y="3924300"/>
            <a:ext cx="9248775"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3000"/>
              </a:lnSpc>
              <a:buNone/>
              <a:defRPr sz="2250" b="1">
                <a:solidFill>
                  <a:srgbClr val="1F4FA3"/>
                </a:solidFill>
                <a:latin typeface="Arial"/>
                <a:ea typeface="Arial"/>
                <a:cs typeface="Arial"/>
              </a:defRPr>
            </a:pPr>
            <a:r>
              <a:rPr sz="2250" b="1">
                <a:solidFill>
                  <a:srgbClr val="1F4FA3"/>
                </a:solidFill>
                <a:latin typeface="Arial"/>
                <a:ea typeface="Arial"/>
                <a:cs typeface="Arial"/>
              </a:rPr>
              <a:t>Registrar evidencia, citas y tiempos permite explicar no solo cuánto falla un RAG, sino en qué componente ocurre el fallo.</a:t>
            </a:r>
          </a:p>
        </p:txBody>
      </p:sp>
      <p:sp>
        <p:nvSpPr>
          <p:cNvPr id="7" name="header-rule">
            <a:extLst xmlns:a="http://schemas.openxmlformats.org/drawingml/2006/main">
              <a:ext uri="{FF2B5EF4-FFF2-40B4-BE49-F238E27FC236}">
                <a16:creationId xmlns:a16="http://schemas.microsoft.com/office/drawing/2014/main" id="{24DE6F37-58C7-4396-8CB8-B0E390477C4D}"/>
              </a:ext>
            </a:extLst>
          </p:cNvPr>
          <p:cNvSpPr>
            <a:spLocks xmlns:a="http://schemas.openxmlformats.org/drawingml/2006/main" noGrp="1"/>
          </p:cNvSpPr>
          <p:nvPr/>
        </p:nvSpPr>
        <p:spPr>
          <a:xfrm xmlns:a="http://schemas.openxmlformats.org/drawingml/2006/main">
            <a:off x="1143000" y="5953125"/>
            <a:ext cx="27993975" cy="3810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8" name="architecture-panel">
            <a:extLst xmlns:a="http://schemas.openxmlformats.org/drawingml/2006/main">
              <a:ext uri="{FF2B5EF4-FFF2-40B4-BE49-F238E27FC236}">
                <a16:creationId xmlns:a16="http://schemas.microsoft.com/office/drawing/2014/main" id="{DBAC3D1B-9B2E-4970-9C20-F56F6BF42049}"/>
              </a:ext>
            </a:extLst>
          </p:cNvPr>
          <p:cNvSpPr>
            <a:spLocks xmlns:a="http://schemas.openxmlformats.org/drawingml/2006/main" noGrp="1"/>
          </p:cNvSpPr>
          <p:nvPr/>
        </p:nvSpPr>
        <p:spPr>
          <a:xfrm xmlns:a="http://schemas.openxmlformats.org/drawingml/2006/main">
            <a:off x="1143000" y="6477000"/>
            <a:ext cx="27993975" cy="100012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9" name="architecture-title-bar">
            <a:extLst xmlns:a="http://schemas.openxmlformats.org/drawingml/2006/main">
              <a:ext uri="{FF2B5EF4-FFF2-40B4-BE49-F238E27FC236}">
                <a16:creationId xmlns:a16="http://schemas.microsoft.com/office/drawing/2014/main" id="{0519E1D6-C77A-489D-A4C1-2E7B4648C601}"/>
              </a:ext>
            </a:extLst>
          </p:cNvPr>
          <p:cNvSpPr>
            <a:spLocks xmlns:a="http://schemas.openxmlformats.org/drawingml/2006/main" noGrp="1"/>
          </p:cNvSpPr>
          <p:nvPr/>
        </p:nvSpPr>
        <p:spPr>
          <a:xfrm xmlns:a="http://schemas.openxmlformats.org/drawingml/2006/main">
            <a:off x="1571625" y="6924675"/>
            <a:ext cx="95250" cy="4000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0" name="architecture-title">
            <a:extLst xmlns:a="http://schemas.openxmlformats.org/drawingml/2006/main">
              <a:ext uri="{FF2B5EF4-FFF2-40B4-BE49-F238E27FC236}">
                <a16:creationId xmlns:a16="http://schemas.microsoft.com/office/drawing/2014/main" id="{A3F62810-07BB-4CE1-BCBE-5CC5039F5AA7}"/>
              </a:ext>
            </a:extLst>
          </p:cNvPr>
          <p:cNvSpPr>
            <a:spLocks xmlns:a="http://schemas.openxmlformats.org/drawingml/2006/main" noGrp="1"/>
          </p:cNvSpPr>
          <p:nvPr/>
        </p:nvSpPr>
        <p:spPr>
          <a:xfrm xmlns:a="http://schemas.openxmlformats.org/drawingml/2006/main">
            <a:off x="1838325" y="6858000"/>
            <a:ext cx="26870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02A43"/>
                </a:solidFill>
                <a:latin typeface="Arial"/>
                <a:ea typeface="Arial"/>
                <a:cs typeface="Arial"/>
              </a:defRPr>
            </a:pPr>
            <a:r>
              <a:rPr sz="3000" b="1">
                <a:solidFill>
                  <a:srgbClr val="102A43"/>
                </a:solidFill>
                <a:latin typeface="Arial"/>
                <a:ea typeface="Arial"/>
                <a:cs typeface="Arial"/>
              </a:rPr>
              <a:t>Arquitectura mínima = pipeline reproducible + contrato de salida + traza por consulta</a:t>
            </a:r>
          </a:p>
        </p:txBody>
      </p:sp>
      <p:sp>
        <p:nvSpPr>
          <p:cNvPr id="11" name="architecture-purpose">
            <a:extLst xmlns:a="http://schemas.openxmlformats.org/drawingml/2006/main">
              <a:ext uri="{FF2B5EF4-FFF2-40B4-BE49-F238E27FC236}">
                <a16:creationId xmlns:a16="http://schemas.microsoft.com/office/drawing/2014/main" id="{67864BCE-6FA9-41C9-AB6B-23E07EF6C507}"/>
              </a:ext>
            </a:extLst>
          </p:cNvPr>
          <p:cNvSpPr>
            <a:spLocks xmlns:a="http://schemas.openxmlformats.org/drawingml/2006/main" noGrp="1"/>
          </p:cNvSpPr>
          <p:nvPr/>
        </p:nvSpPr>
        <p:spPr>
          <a:xfrm xmlns:a="http://schemas.openxmlformats.org/drawingml/2006/main">
            <a:off x="1838325" y="7448550"/>
            <a:ext cx="26336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75" b="0">
                <a:solidFill>
                  <a:srgbClr val="52606D"/>
                </a:solidFill>
                <a:latin typeface="Arial"/>
                <a:ea typeface="Arial"/>
                <a:cs typeface="Arial"/>
              </a:defRPr>
            </a:pPr>
            <a:r>
              <a:rPr sz="1875" b="0">
                <a:solidFill>
                  <a:srgbClr val="52606D"/>
                </a:solidFill>
                <a:latin typeface="Arial"/>
                <a:ea typeface="Arial"/>
                <a:cs typeface="Arial"/>
              </a:rPr>
              <a:t>Cada componente produce un artefacto verificable y conserva suficiente contexto para atribuir los fallos.</a:t>
            </a:r>
          </a:p>
        </p:txBody>
      </p:sp>
      <p:sp>
        <p:nvSpPr>
          <p:cNvPr id="12" name="architecture-node-1">
            <a:extLst xmlns:a="http://schemas.openxmlformats.org/drawingml/2006/main">
              <a:ext uri="{FF2B5EF4-FFF2-40B4-BE49-F238E27FC236}">
                <a16:creationId xmlns:a16="http://schemas.microsoft.com/office/drawing/2014/main" id="{F90FE6E3-70B5-4CDE-AE45-2E992CE32745}"/>
              </a:ext>
            </a:extLst>
          </p:cNvPr>
          <p:cNvSpPr>
            <a:spLocks xmlns:a="http://schemas.openxmlformats.org/drawingml/2006/main" noGrp="1"/>
          </p:cNvSpPr>
          <p:nvPr/>
        </p:nvSpPr>
        <p:spPr>
          <a:xfrm xmlns:a="http://schemas.openxmlformats.org/drawingml/2006/main">
            <a:off x="1762125" y="8334375"/>
            <a:ext cx="3238500" cy="2381250"/>
          </a:xfrm>
          <a:prstGeom xmlns:a="http://schemas.openxmlformats.org/drawingml/2006/main" prst="roundRect">
            <a:avLst>
              <a:gd name="adj" fmla="val 3200"/>
            </a:avLst>
          </a:prstGeom>
          <a:solidFill xmlns:a="http://schemas.openxmlformats.org/drawingml/2006/main">
            <a:srgbClr val="EAF4FB"/>
          </a:solidFill>
          <a:ln xmlns:a="http://schemas.openxmlformats.org/drawingml/2006/main" w="28575">
            <a:solidFill>
              <a:srgbClr val="2D6CDF"/>
            </a:solidFill>
            <a:prstDash val="solid"/>
          </a:ln>
        </p:spPr>
      </p:sp>
      <p:sp>
        <p:nvSpPr>
          <p:cNvPr id="13" name="architecture-node-1-step">
            <a:extLst xmlns:a="http://schemas.openxmlformats.org/drawingml/2006/main">
              <a:ext uri="{FF2B5EF4-FFF2-40B4-BE49-F238E27FC236}">
                <a16:creationId xmlns:a16="http://schemas.microsoft.com/office/drawing/2014/main" id="{85C1FA0C-55A6-48C6-B08B-C225678C5EA3}"/>
              </a:ext>
            </a:extLst>
          </p:cNvPr>
          <p:cNvSpPr>
            <a:spLocks xmlns:a="http://schemas.openxmlformats.org/drawingml/2006/main" noGrp="1"/>
          </p:cNvSpPr>
          <p:nvPr/>
        </p:nvSpPr>
        <p:spPr>
          <a:xfrm xmlns:a="http://schemas.openxmlformats.org/drawingml/2006/main">
            <a:off x="1971675" y="8505825"/>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2D6CDF"/>
                </a:solidFill>
                <a:latin typeface="Arial"/>
                <a:ea typeface="Arial"/>
                <a:cs typeface="Arial"/>
              </a:defRPr>
            </a:pPr>
            <a:r>
              <a:rPr sz="1650" b="1">
                <a:solidFill>
                  <a:srgbClr val="2D6CDF"/>
                </a:solidFill>
                <a:latin typeface="Arial"/>
                <a:ea typeface="Arial"/>
                <a:cs typeface="Arial"/>
              </a:rPr>
              <a:t>01</a:t>
            </a:r>
          </a:p>
        </p:txBody>
      </p:sp>
      <p:sp>
        <p:nvSpPr>
          <p:cNvPr id="14" name="architecture-node-1-title">
            <a:extLst xmlns:a="http://schemas.openxmlformats.org/drawingml/2006/main">
              <a:ext uri="{FF2B5EF4-FFF2-40B4-BE49-F238E27FC236}">
                <a16:creationId xmlns:a16="http://schemas.microsoft.com/office/drawing/2014/main" id="{263687FC-7F17-427C-8921-104303586DA1}"/>
              </a:ext>
            </a:extLst>
          </p:cNvPr>
          <p:cNvSpPr>
            <a:spLocks xmlns:a="http://schemas.openxmlformats.org/drawingml/2006/main" noGrp="1"/>
          </p:cNvSpPr>
          <p:nvPr/>
        </p:nvSpPr>
        <p:spPr>
          <a:xfrm xmlns:a="http://schemas.openxmlformats.org/drawingml/2006/main">
            <a:off x="1971675" y="9001125"/>
            <a:ext cx="2819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250" b="1">
                <a:solidFill>
                  <a:srgbClr val="102A43"/>
                </a:solidFill>
                <a:latin typeface="Arial"/>
                <a:ea typeface="Arial"/>
                <a:cs typeface="Arial"/>
              </a:defRPr>
            </a:pPr>
            <a:r>
              <a:rPr sz="2250" b="1">
                <a:solidFill>
                  <a:srgbClr val="102A43"/>
                </a:solidFill>
                <a:latin typeface="Arial"/>
                <a:ea typeface="Arial"/>
                <a:cs typeface="Arial"/>
              </a:rPr>
              <a:t>Fuentes</a:t>
            </a:r>
          </a:p>
        </p:txBody>
      </p:sp>
      <p:sp>
        <p:nvSpPr>
          <p:cNvPr id="15" name="architecture-node-1-body">
            <a:extLst xmlns:a="http://schemas.openxmlformats.org/drawingml/2006/main">
              <a:ext uri="{FF2B5EF4-FFF2-40B4-BE49-F238E27FC236}">
                <a16:creationId xmlns:a16="http://schemas.microsoft.com/office/drawing/2014/main" id="{1F269949-4892-4EE8-BAC1-7D6C98568286}"/>
              </a:ext>
            </a:extLst>
          </p:cNvPr>
          <p:cNvSpPr>
            <a:spLocks xmlns:a="http://schemas.openxmlformats.org/drawingml/2006/main" noGrp="1"/>
          </p:cNvSpPr>
          <p:nvPr/>
        </p:nvSpPr>
        <p:spPr>
          <a:xfrm xmlns:a="http://schemas.openxmlformats.org/drawingml/2006/main">
            <a:off x="1971675" y="9620250"/>
            <a:ext cx="2819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0">
                <a:solidFill>
                  <a:srgbClr val="52606D"/>
                </a:solidFill>
                <a:latin typeface="Arial"/>
                <a:ea typeface="Arial"/>
                <a:cs typeface="Arial"/>
              </a:defRPr>
            </a:pPr>
            <a:r>
              <a:rPr sz="1725" b="0">
                <a:solidFill>
                  <a:srgbClr val="52606D"/>
                </a:solidFill>
                <a:latin typeface="Arial"/>
                <a:ea typeface="Arial"/>
                <a:cs typeface="Arial"/>
              </a:rPr>
              <a:t>25 documentos</a:t>
            </a:r>
          </a:p>
          <a:p xmlns:a="http://schemas.openxmlformats.org/drawingml/2006/main">
            <a:pPr algn="l">
              <a:lnSpc>
                <a:spcPct val="102000"/>
              </a:lnSpc>
              <a:buNone/>
              <a:defRPr sz="1725" b="0">
                <a:solidFill>
                  <a:srgbClr val="52606D"/>
                </a:solidFill>
                <a:latin typeface="Arial"/>
                <a:ea typeface="Arial"/>
                <a:cs typeface="Arial"/>
              </a:defRPr>
            </a:pPr>
            <a:r>
              <a:rPr sz="1725" b="0">
                <a:solidFill>
                  <a:srgbClr val="52606D"/>
                </a:solidFill>
                <a:latin typeface="Arial"/>
                <a:ea typeface="Arial"/>
                <a:cs typeface="Arial"/>
              </a:rPr>
              <a:t>captura + hash</a:t>
            </a:r>
          </a:p>
        </p:txBody>
      </p:sp>
      <p:sp>
        <p:nvSpPr>
          <p:cNvPr id="16" name="architecture-node-2">
            <a:extLst xmlns:a="http://schemas.openxmlformats.org/drawingml/2006/main">
              <a:ext uri="{FF2B5EF4-FFF2-40B4-BE49-F238E27FC236}">
                <a16:creationId xmlns:a16="http://schemas.microsoft.com/office/drawing/2014/main" id="{CF80D416-2AC7-48CF-AE2D-D335B2B6F02C}"/>
              </a:ext>
            </a:extLst>
          </p:cNvPr>
          <p:cNvSpPr>
            <a:spLocks xmlns:a="http://schemas.openxmlformats.org/drawingml/2006/main" noGrp="1"/>
          </p:cNvSpPr>
          <p:nvPr/>
        </p:nvSpPr>
        <p:spPr>
          <a:xfrm xmlns:a="http://schemas.openxmlformats.org/drawingml/2006/main">
            <a:off x="5619750" y="8334375"/>
            <a:ext cx="3238500" cy="2381250"/>
          </a:xfrm>
          <a:prstGeom xmlns:a="http://schemas.openxmlformats.org/drawingml/2006/main" prst="roundRect">
            <a:avLst>
              <a:gd name="adj" fmla="val 3200"/>
            </a:avLst>
          </a:prstGeom>
          <a:solidFill xmlns:a="http://schemas.openxmlformats.org/drawingml/2006/main">
            <a:srgbClr val="EAF4FB"/>
          </a:solidFill>
          <a:ln xmlns:a="http://schemas.openxmlformats.org/drawingml/2006/main" w="28575">
            <a:solidFill>
              <a:srgbClr val="2D6CDF"/>
            </a:solidFill>
            <a:prstDash val="solid"/>
          </a:ln>
        </p:spPr>
      </p:sp>
      <p:sp>
        <p:nvSpPr>
          <p:cNvPr id="17" name="architecture-node-2-step">
            <a:extLst xmlns:a="http://schemas.openxmlformats.org/drawingml/2006/main">
              <a:ext uri="{FF2B5EF4-FFF2-40B4-BE49-F238E27FC236}">
                <a16:creationId xmlns:a16="http://schemas.microsoft.com/office/drawing/2014/main" id="{62D47F75-3AD3-45A7-AC05-5B56D394D784}"/>
              </a:ext>
            </a:extLst>
          </p:cNvPr>
          <p:cNvSpPr>
            <a:spLocks xmlns:a="http://schemas.openxmlformats.org/drawingml/2006/main" noGrp="1"/>
          </p:cNvSpPr>
          <p:nvPr/>
        </p:nvSpPr>
        <p:spPr>
          <a:xfrm xmlns:a="http://schemas.openxmlformats.org/drawingml/2006/main">
            <a:off x="5829300" y="8505825"/>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2D6CDF"/>
                </a:solidFill>
                <a:latin typeface="Arial"/>
                <a:ea typeface="Arial"/>
                <a:cs typeface="Arial"/>
              </a:defRPr>
            </a:pPr>
            <a:r>
              <a:rPr sz="1650" b="1">
                <a:solidFill>
                  <a:srgbClr val="2D6CDF"/>
                </a:solidFill>
                <a:latin typeface="Arial"/>
                <a:ea typeface="Arial"/>
                <a:cs typeface="Arial"/>
              </a:rPr>
              <a:t>02</a:t>
            </a:r>
          </a:p>
        </p:txBody>
      </p:sp>
      <p:sp>
        <p:nvSpPr>
          <p:cNvPr id="18" name="architecture-node-2-title">
            <a:extLst xmlns:a="http://schemas.openxmlformats.org/drawingml/2006/main">
              <a:ext uri="{FF2B5EF4-FFF2-40B4-BE49-F238E27FC236}">
                <a16:creationId xmlns:a16="http://schemas.microsoft.com/office/drawing/2014/main" id="{973F2F5F-AF1B-49E9-8BCA-251F70AE25BF}"/>
              </a:ext>
            </a:extLst>
          </p:cNvPr>
          <p:cNvSpPr>
            <a:spLocks xmlns:a="http://schemas.openxmlformats.org/drawingml/2006/main" noGrp="1"/>
          </p:cNvSpPr>
          <p:nvPr/>
        </p:nvSpPr>
        <p:spPr>
          <a:xfrm xmlns:a="http://schemas.openxmlformats.org/drawingml/2006/main">
            <a:off x="5829300" y="9001125"/>
            <a:ext cx="2819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250" b="1">
                <a:solidFill>
                  <a:srgbClr val="102A43"/>
                </a:solidFill>
                <a:latin typeface="Arial"/>
                <a:ea typeface="Arial"/>
                <a:cs typeface="Arial"/>
              </a:defRPr>
            </a:pPr>
            <a:r>
              <a:rPr sz="2250" b="1">
                <a:solidFill>
                  <a:srgbClr val="102A43"/>
                </a:solidFill>
                <a:latin typeface="Arial"/>
                <a:ea typeface="Arial"/>
                <a:cs typeface="Arial"/>
              </a:rPr>
              <a:t>Secciones</a:t>
            </a:r>
          </a:p>
        </p:txBody>
      </p:sp>
      <p:sp>
        <p:nvSpPr>
          <p:cNvPr id="19" name="architecture-node-2-body">
            <a:extLst xmlns:a="http://schemas.openxmlformats.org/drawingml/2006/main">
              <a:ext uri="{FF2B5EF4-FFF2-40B4-BE49-F238E27FC236}">
                <a16:creationId xmlns:a16="http://schemas.microsoft.com/office/drawing/2014/main" id="{73B8A852-F8AB-4F36-93A1-5F7C19553251}"/>
              </a:ext>
            </a:extLst>
          </p:cNvPr>
          <p:cNvSpPr>
            <a:spLocks xmlns:a="http://schemas.openxmlformats.org/drawingml/2006/main" noGrp="1"/>
          </p:cNvSpPr>
          <p:nvPr/>
        </p:nvSpPr>
        <p:spPr>
          <a:xfrm xmlns:a="http://schemas.openxmlformats.org/drawingml/2006/main">
            <a:off x="5829300" y="9620250"/>
            <a:ext cx="2819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0">
                <a:solidFill>
                  <a:srgbClr val="52606D"/>
                </a:solidFill>
                <a:latin typeface="Arial"/>
                <a:ea typeface="Arial"/>
                <a:cs typeface="Arial"/>
              </a:defRPr>
            </a:pPr>
            <a:r>
              <a:rPr sz="1725" b="0">
                <a:solidFill>
                  <a:srgbClr val="52606D"/>
                </a:solidFill>
                <a:latin typeface="Arial"/>
                <a:ea typeface="Arial"/>
                <a:cs typeface="Arial"/>
              </a:rPr>
              <a:t>1 184 registros</a:t>
            </a:r>
          </a:p>
          <a:p xmlns:a="http://schemas.openxmlformats.org/drawingml/2006/main">
            <a:pPr algn="l">
              <a:lnSpc>
                <a:spcPct val="102000"/>
              </a:lnSpc>
              <a:buNone/>
              <a:defRPr sz="1725" b="0">
                <a:solidFill>
                  <a:srgbClr val="52606D"/>
                </a:solidFill>
                <a:latin typeface="Arial"/>
                <a:ea typeface="Arial"/>
                <a:cs typeface="Arial"/>
              </a:defRPr>
            </a:pPr>
            <a:r>
              <a:rPr sz="1725" b="0">
                <a:solidFill>
                  <a:srgbClr val="52606D"/>
                </a:solidFill>
                <a:latin typeface="Arial"/>
                <a:ea typeface="Arial"/>
                <a:cs typeface="Arial"/>
              </a:rPr>
              <a:t>artículos + transitorios</a:t>
            </a:r>
          </a:p>
        </p:txBody>
      </p:sp>
      <p:sp>
        <p:nvSpPr>
          <p:cNvPr id="20" name="architecture-node-3">
            <a:extLst xmlns:a="http://schemas.openxmlformats.org/drawingml/2006/main">
              <a:ext uri="{FF2B5EF4-FFF2-40B4-BE49-F238E27FC236}">
                <a16:creationId xmlns:a16="http://schemas.microsoft.com/office/drawing/2014/main" id="{6F9DACCA-2FBB-48D6-A132-B2466A593420}"/>
              </a:ext>
            </a:extLst>
          </p:cNvPr>
          <p:cNvSpPr>
            <a:spLocks xmlns:a="http://schemas.openxmlformats.org/drawingml/2006/main" noGrp="1"/>
          </p:cNvSpPr>
          <p:nvPr/>
        </p:nvSpPr>
        <p:spPr>
          <a:xfrm xmlns:a="http://schemas.openxmlformats.org/drawingml/2006/main">
            <a:off x="9477375" y="8334375"/>
            <a:ext cx="3238500" cy="2381250"/>
          </a:xfrm>
          <a:prstGeom xmlns:a="http://schemas.openxmlformats.org/drawingml/2006/main" prst="roundRect">
            <a:avLst>
              <a:gd name="adj" fmla="val 3200"/>
            </a:avLst>
          </a:prstGeom>
          <a:solidFill xmlns:a="http://schemas.openxmlformats.org/drawingml/2006/main">
            <a:srgbClr val="E6F4F1"/>
          </a:solidFill>
          <a:ln xmlns:a="http://schemas.openxmlformats.org/drawingml/2006/main" w="28575">
            <a:solidFill>
              <a:srgbClr val="0F766E"/>
            </a:solidFill>
            <a:prstDash val="solid"/>
          </a:ln>
        </p:spPr>
      </p:sp>
      <p:sp>
        <p:nvSpPr>
          <p:cNvPr id="21" name="architecture-node-3-step">
            <a:extLst xmlns:a="http://schemas.openxmlformats.org/drawingml/2006/main">
              <a:ext uri="{FF2B5EF4-FFF2-40B4-BE49-F238E27FC236}">
                <a16:creationId xmlns:a16="http://schemas.microsoft.com/office/drawing/2014/main" id="{0CF39541-8D4E-4D17-8E02-ED9EAE14DA88}"/>
              </a:ext>
            </a:extLst>
          </p:cNvPr>
          <p:cNvSpPr>
            <a:spLocks xmlns:a="http://schemas.openxmlformats.org/drawingml/2006/main" noGrp="1"/>
          </p:cNvSpPr>
          <p:nvPr/>
        </p:nvSpPr>
        <p:spPr>
          <a:xfrm xmlns:a="http://schemas.openxmlformats.org/drawingml/2006/main">
            <a:off x="9686925" y="8505825"/>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0F766E"/>
                </a:solidFill>
                <a:latin typeface="Arial"/>
                <a:ea typeface="Arial"/>
                <a:cs typeface="Arial"/>
              </a:defRPr>
            </a:pPr>
            <a:r>
              <a:rPr sz="1650" b="1">
                <a:solidFill>
                  <a:srgbClr val="0F766E"/>
                </a:solidFill>
                <a:latin typeface="Arial"/>
                <a:ea typeface="Arial"/>
                <a:cs typeface="Arial"/>
              </a:rPr>
              <a:t>03</a:t>
            </a:r>
          </a:p>
        </p:txBody>
      </p:sp>
      <p:sp>
        <p:nvSpPr>
          <p:cNvPr id="22" name="architecture-node-3-title">
            <a:extLst xmlns:a="http://schemas.openxmlformats.org/drawingml/2006/main">
              <a:ext uri="{FF2B5EF4-FFF2-40B4-BE49-F238E27FC236}">
                <a16:creationId xmlns:a16="http://schemas.microsoft.com/office/drawing/2014/main" id="{A66C7A62-414E-434F-84E0-9721C36C480C}"/>
              </a:ext>
            </a:extLst>
          </p:cNvPr>
          <p:cNvSpPr>
            <a:spLocks xmlns:a="http://schemas.openxmlformats.org/drawingml/2006/main" noGrp="1"/>
          </p:cNvSpPr>
          <p:nvPr/>
        </p:nvSpPr>
        <p:spPr>
          <a:xfrm xmlns:a="http://schemas.openxmlformats.org/drawingml/2006/main">
            <a:off x="9686925" y="9001125"/>
            <a:ext cx="2819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250" b="1">
                <a:solidFill>
                  <a:srgbClr val="102A43"/>
                </a:solidFill>
                <a:latin typeface="Arial"/>
                <a:ea typeface="Arial"/>
                <a:cs typeface="Arial"/>
              </a:defRPr>
            </a:pPr>
            <a:r>
              <a:rPr sz="2250" b="1">
                <a:solidFill>
                  <a:srgbClr val="102A43"/>
                </a:solidFill>
                <a:latin typeface="Arial"/>
                <a:ea typeface="Arial"/>
                <a:cs typeface="Arial"/>
              </a:rPr>
              <a:t>Índice</a:t>
            </a:r>
          </a:p>
        </p:txBody>
      </p:sp>
      <p:sp>
        <p:nvSpPr>
          <p:cNvPr id="23" name="architecture-node-3-body">
            <a:extLst xmlns:a="http://schemas.openxmlformats.org/drawingml/2006/main">
              <a:ext uri="{FF2B5EF4-FFF2-40B4-BE49-F238E27FC236}">
                <a16:creationId xmlns:a16="http://schemas.microsoft.com/office/drawing/2014/main" id="{1691160F-D46F-4073-B97A-B363A7417FD4}"/>
              </a:ext>
            </a:extLst>
          </p:cNvPr>
          <p:cNvSpPr>
            <a:spLocks xmlns:a="http://schemas.openxmlformats.org/drawingml/2006/main" noGrp="1"/>
          </p:cNvSpPr>
          <p:nvPr/>
        </p:nvSpPr>
        <p:spPr>
          <a:xfrm xmlns:a="http://schemas.openxmlformats.org/drawingml/2006/main">
            <a:off x="9686925" y="9620250"/>
            <a:ext cx="2819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0">
                <a:solidFill>
                  <a:srgbClr val="52606D"/>
                </a:solidFill>
                <a:latin typeface="Arial"/>
                <a:ea typeface="Arial"/>
                <a:cs typeface="Arial"/>
              </a:defRPr>
            </a:pPr>
            <a:r>
              <a:rPr sz="1725" b="0">
                <a:solidFill>
                  <a:srgbClr val="52606D"/>
                </a:solidFill>
                <a:latin typeface="Arial"/>
                <a:ea typeface="Arial"/>
                <a:cs typeface="Arial"/>
              </a:rPr>
              <a:t>1 259 fragmentos</a:t>
            </a:r>
          </a:p>
          <a:p xmlns:a="http://schemas.openxmlformats.org/drawingml/2006/main">
            <a:pPr algn="l">
              <a:lnSpc>
                <a:spcPct val="102000"/>
              </a:lnSpc>
              <a:buNone/>
              <a:defRPr sz="1725" b="0">
                <a:solidFill>
                  <a:srgbClr val="52606D"/>
                </a:solidFill>
                <a:latin typeface="Arial"/>
                <a:ea typeface="Arial"/>
                <a:cs typeface="Arial"/>
              </a:defRPr>
            </a:pPr>
            <a:r>
              <a:rPr sz="1725" b="0">
                <a:solidFill>
                  <a:srgbClr val="52606D"/>
                </a:solidFill>
                <a:latin typeface="Arial"/>
                <a:ea typeface="Arial"/>
                <a:cs typeface="Arial"/>
              </a:rPr>
              <a:t>E5 · 384 dimensiones</a:t>
            </a:r>
          </a:p>
        </p:txBody>
      </p:sp>
      <p:sp>
        <p:nvSpPr>
          <p:cNvPr id="24" name="architecture-node-4">
            <a:extLst xmlns:a="http://schemas.openxmlformats.org/drawingml/2006/main">
              <a:ext uri="{FF2B5EF4-FFF2-40B4-BE49-F238E27FC236}">
                <a16:creationId xmlns:a16="http://schemas.microsoft.com/office/drawing/2014/main" id="{81703FF4-309A-4AAB-A5D4-08464CA58E1A}"/>
              </a:ext>
            </a:extLst>
          </p:cNvPr>
          <p:cNvSpPr>
            <a:spLocks xmlns:a="http://schemas.openxmlformats.org/drawingml/2006/main" noGrp="1"/>
          </p:cNvSpPr>
          <p:nvPr/>
        </p:nvSpPr>
        <p:spPr>
          <a:xfrm xmlns:a="http://schemas.openxmlformats.org/drawingml/2006/main">
            <a:off x="13335000" y="8334375"/>
            <a:ext cx="3238500" cy="2381250"/>
          </a:xfrm>
          <a:prstGeom xmlns:a="http://schemas.openxmlformats.org/drawingml/2006/main" prst="roundRect">
            <a:avLst>
              <a:gd name="adj" fmla="val 3200"/>
            </a:avLst>
          </a:prstGeom>
          <a:solidFill xmlns:a="http://schemas.openxmlformats.org/drawingml/2006/main">
            <a:srgbClr val="E6F4F1"/>
          </a:solidFill>
          <a:ln xmlns:a="http://schemas.openxmlformats.org/drawingml/2006/main" w="28575">
            <a:solidFill>
              <a:srgbClr val="0F766E"/>
            </a:solidFill>
            <a:prstDash val="solid"/>
          </a:ln>
        </p:spPr>
      </p:sp>
      <p:sp>
        <p:nvSpPr>
          <p:cNvPr id="25" name="architecture-node-4-step">
            <a:extLst xmlns:a="http://schemas.openxmlformats.org/drawingml/2006/main">
              <a:ext uri="{FF2B5EF4-FFF2-40B4-BE49-F238E27FC236}">
                <a16:creationId xmlns:a16="http://schemas.microsoft.com/office/drawing/2014/main" id="{51074F25-9203-4EE4-B8F4-DC165770F9AD}"/>
              </a:ext>
            </a:extLst>
          </p:cNvPr>
          <p:cNvSpPr>
            <a:spLocks xmlns:a="http://schemas.openxmlformats.org/drawingml/2006/main" noGrp="1"/>
          </p:cNvSpPr>
          <p:nvPr/>
        </p:nvSpPr>
        <p:spPr>
          <a:xfrm xmlns:a="http://schemas.openxmlformats.org/drawingml/2006/main">
            <a:off x="13544550" y="8505825"/>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0F766E"/>
                </a:solidFill>
                <a:latin typeface="Arial"/>
                <a:ea typeface="Arial"/>
                <a:cs typeface="Arial"/>
              </a:defRPr>
            </a:pPr>
            <a:r>
              <a:rPr sz="1650" b="1">
                <a:solidFill>
                  <a:srgbClr val="0F766E"/>
                </a:solidFill>
                <a:latin typeface="Arial"/>
                <a:ea typeface="Arial"/>
                <a:cs typeface="Arial"/>
              </a:rPr>
              <a:t>04</a:t>
            </a:r>
          </a:p>
        </p:txBody>
      </p:sp>
      <p:sp>
        <p:nvSpPr>
          <p:cNvPr id="26" name="architecture-node-4-title">
            <a:extLst xmlns:a="http://schemas.openxmlformats.org/drawingml/2006/main">
              <a:ext uri="{FF2B5EF4-FFF2-40B4-BE49-F238E27FC236}">
                <a16:creationId xmlns:a16="http://schemas.microsoft.com/office/drawing/2014/main" id="{715D0DF1-B4B6-41C1-9D7E-2A50DD43F0E6}"/>
              </a:ext>
            </a:extLst>
          </p:cNvPr>
          <p:cNvSpPr>
            <a:spLocks xmlns:a="http://schemas.openxmlformats.org/drawingml/2006/main" noGrp="1"/>
          </p:cNvSpPr>
          <p:nvPr/>
        </p:nvSpPr>
        <p:spPr>
          <a:xfrm xmlns:a="http://schemas.openxmlformats.org/drawingml/2006/main">
            <a:off x="13544550" y="9001125"/>
            <a:ext cx="2819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250" b="1">
                <a:solidFill>
                  <a:srgbClr val="102A43"/>
                </a:solidFill>
                <a:latin typeface="Arial"/>
                <a:ea typeface="Arial"/>
                <a:cs typeface="Arial"/>
              </a:defRPr>
            </a:pPr>
            <a:r>
              <a:rPr sz="2250" b="1">
                <a:solidFill>
                  <a:srgbClr val="102A43"/>
                </a:solidFill>
                <a:latin typeface="Arial"/>
                <a:ea typeface="Arial"/>
                <a:cs typeface="Arial"/>
              </a:rPr>
              <a:t>Recuperación</a:t>
            </a:r>
          </a:p>
        </p:txBody>
      </p:sp>
      <p:sp>
        <p:nvSpPr>
          <p:cNvPr id="27" name="architecture-node-4-body">
            <a:extLst xmlns:a="http://schemas.openxmlformats.org/drawingml/2006/main">
              <a:ext uri="{FF2B5EF4-FFF2-40B4-BE49-F238E27FC236}">
                <a16:creationId xmlns:a16="http://schemas.microsoft.com/office/drawing/2014/main" id="{5BB6328B-BD4D-4B00-ADD3-614EEBC03232}"/>
              </a:ext>
            </a:extLst>
          </p:cNvPr>
          <p:cNvSpPr>
            <a:spLocks xmlns:a="http://schemas.openxmlformats.org/drawingml/2006/main" noGrp="1"/>
          </p:cNvSpPr>
          <p:nvPr/>
        </p:nvSpPr>
        <p:spPr>
          <a:xfrm xmlns:a="http://schemas.openxmlformats.org/drawingml/2006/main">
            <a:off x="13544550" y="9620250"/>
            <a:ext cx="2819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0">
                <a:solidFill>
                  <a:srgbClr val="52606D"/>
                </a:solidFill>
                <a:latin typeface="Arial"/>
                <a:ea typeface="Arial"/>
                <a:cs typeface="Arial"/>
              </a:defRPr>
            </a:pPr>
            <a:r>
              <a:rPr sz="1725" b="0">
                <a:solidFill>
                  <a:srgbClr val="52606D"/>
                </a:solidFill>
                <a:latin typeface="Arial"/>
                <a:ea typeface="Arial"/>
                <a:cs typeface="Arial"/>
              </a:rPr>
              <a:t>top-5</a:t>
            </a:r>
          </a:p>
          <a:p xmlns:a="http://schemas.openxmlformats.org/drawingml/2006/main">
            <a:pPr algn="l">
              <a:lnSpc>
                <a:spcPct val="102000"/>
              </a:lnSpc>
              <a:buNone/>
              <a:defRPr sz="1725" b="0">
                <a:solidFill>
                  <a:srgbClr val="52606D"/>
                </a:solidFill>
                <a:latin typeface="Arial"/>
                <a:ea typeface="Arial"/>
                <a:cs typeface="Arial"/>
              </a:defRPr>
            </a:pPr>
            <a:r>
              <a:rPr sz="1725" b="0">
                <a:solidFill>
                  <a:srgbClr val="52606D"/>
                </a:solidFill>
                <a:latin typeface="Arial"/>
                <a:ea typeface="Arial"/>
                <a:cs typeface="Arial"/>
              </a:rPr>
              <a:t>similitud coseno</a:t>
            </a:r>
          </a:p>
        </p:txBody>
      </p:sp>
      <p:sp>
        <p:nvSpPr>
          <p:cNvPr id="28" name="architecture-node-5">
            <a:extLst xmlns:a="http://schemas.openxmlformats.org/drawingml/2006/main">
              <a:ext uri="{FF2B5EF4-FFF2-40B4-BE49-F238E27FC236}">
                <a16:creationId xmlns:a16="http://schemas.microsoft.com/office/drawing/2014/main" id="{A2FE0D06-A67A-4F38-A5AC-A34E50327409}"/>
              </a:ext>
            </a:extLst>
          </p:cNvPr>
          <p:cNvSpPr>
            <a:spLocks xmlns:a="http://schemas.openxmlformats.org/drawingml/2006/main" noGrp="1"/>
          </p:cNvSpPr>
          <p:nvPr/>
        </p:nvSpPr>
        <p:spPr>
          <a:xfrm xmlns:a="http://schemas.openxmlformats.org/drawingml/2006/main">
            <a:off x="17192625" y="8334375"/>
            <a:ext cx="3238500" cy="2381250"/>
          </a:xfrm>
          <a:prstGeom xmlns:a="http://schemas.openxmlformats.org/drawingml/2006/main" prst="roundRect">
            <a:avLst>
              <a:gd name="adj" fmla="val 3200"/>
            </a:avLst>
          </a:prstGeom>
          <a:solidFill xmlns:a="http://schemas.openxmlformats.org/drawingml/2006/main">
            <a:srgbClr val="EAF4FB"/>
          </a:solidFill>
          <a:ln xmlns:a="http://schemas.openxmlformats.org/drawingml/2006/main" w="28575">
            <a:solidFill>
              <a:srgbClr val="2D6CDF"/>
            </a:solidFill>
            <a:prstDash val="solid"/>
          </a:ln>
        </p:spPr>
      </p:sp>
      <p:sp>
        <p:nvSpPr>
          <p:cNvPr id="29" name="architecture-node-5-step">
            <a:extLst xmlns:a="http://schemas.openxmlformats.org/drawingml/2006/main">
              <a:ext uri="{FF2B5EF4-FFF2-40B4-BE49-F238E27FC236}">
                <a16:creationId xmlns:a16="http://schemas.microsoft.com/office/drawing/2014/main" id="{7EEBABDC-A22F-4508-9844-7121DB8C23E3}"/>
              </a:ext>
            </a:extLst>
          </p:cNvPr>
          <p:cNvSpPr>
            <a:spLocks xmlns:a="http://schemas.openxmlformats.org/drawingml/2006/main" noGrp="1"/>
          </p:cNvSpPr>
          <p:nvPr/>
        </p:nvSpPr>
        <p:spPr>
          <a:xfrm xmlns:a="http://schemas.openxmlformats.org/drawingml/2006/main">
            <a:off x="17402175" y="8505825"/>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2D6CDF"/>
                </a:solidFill>
                <a:latin typeface="Arial"/>
                <a:ea typeface="Arial"/>
                <a:cs typeface="Arial"/>
              </a:defRPr>
            </a:pPr>
            <a:r>
              <a:rPr sz="1650" b="1">
                <a:solidFill>
                  <a:srgbClr val="2D6CDF"/>
                </a:solidFill>
                <a:latin typeface="Arial"/>
                <a:ea typeface="Arial"/>
                <a:cs typeface="Arial"/>
              </a:rPr>
              <a:t>05</a:t>
            </a:r>
          </a:p>
        </p:txBody>
      </p:sp>
      <p:sp>
        <p:nvSpPr>
          <p:cNvPr id="30" name="architecture-node-5-title">
            <a:extLst xmlns:a="http://schemas.openxmlformats.org/drawingml/2006/main">
              <a:ext uri="{FF2B5EF4-FFF2-40B4-BE49-F238E27FC236}">
                <a16:creationId xmlns:a16="http://schemas.microsoft.com/office/drawing/2014/main" id="{F47C0B6A-C451-46CB-B11A-B58C3DB7642C}"/>
              </a:ext>
            </a:extLst>
          </p:cNvPr>
          <p:cNvSpPr>
            <a:spLocks xmlns:a="http://schemas.openxmlformats.org/drawingml/2006/main" noGrp="1"/>
          </p:cNvSpPr>
          <p:nvPr/>
        </p:nvSpPr>
        <p:spPr>
          <a:xfrm xmlns:a="http://schemas.openxmlformats.org/drawingml/2006/main">
            <a:off x="17402175" y="9001125"/>
            <a:ext cx="2819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250" b="1">
                <a:solidFill>
                  <a:srgbClr val="102A43"/>
                </a:solidFill>
                <a:latin typeface="Arial"/>
                <a:ea typeface="Arial"/>
                <a:cs typeface="Arial"/>
              </a:defRPr>
            </a:pPr>
            <a:r>
              <a:rPr sz="2250" b="1">
                <a:solidFill>
                  <a:srgbClr val="102A43"/>
                </a:solidFill>
                <a:latin typeface="Arial"/>
                <a:ea typeface="Arial"/>
                <a:cs typeface="Arial"/>
              </a:rPr>
              <a:t>Generación</a:t>
            </a:r>
          </a:p>
        </p:txBody>
      </p:sp>
      <p:sp>
        <p:nvSpPr>
          <p:cNvPr id="31" name="architecture-node-5-body">
            <a:extLst xmlns:a="http://schemas.openxmlformats.org/drawingml/2006/main">
              <a:ext uri="{FF2B5EF4-FFF2-40B4-BE49-F238E27FC236}">
                <a16:creationId xmlns:a16="http://schemas.microsoft.com/office/drawing/2014/main" id="{970E2926-6FC8-4D78-81FA-149830B6BE08}"/>
              </a:ext>
            </a:extLst>
          </p:cNvPr>
          <p:cNvSpPr>
            <a:spLocks xmlns:a="http://schemas.openxmlformats.org/drawingml/2006/main" noGrp="1"/>
          </p:cNvSpPr>
          <p:nvPr/>
        </p:nvSpPr>
        <p:spPr>
          <a:xfrm xmlns:a="http://schemas.openxmlformats.org/drawingml/2006/main">
            <a:off x="17402175" y="9620250"/>
            <a:ext cx="2819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0">
                <a:solidFill>
                  <a:srgbClr val="52606D"/>
                </a:solidFill>
                <a:latin typeface="Arial"/>
                <a:ea typeface="Arial"/>
                <a:cs typeface="Arial"/>
              </a:defRPr>
            </a:pPr>
            <a:r>
              <a:rPr sz="1725" b="0">
                <a:solidFill>
                  <a:srgbClr val="52606D"/>
                </a:solidFill>
                <a:latin typeface="Arial"/>
                <a:ea typeface="Arial"/>
                <a:cs typeface="Arial"/>
              </a:rPr>
              <a:t>Qwen3.5:9B</a:t>
            </a:r>
          </a:p>
          <a:p xmlns:a="http://schemas.openxmlformats.org/drawingml/2006/main">
            <a:pPr algn="l">
              <a:lnSpc>
                <a:spcPct val="102000"/>
              </a:lnSpc>
              <a:buNone/>
              <a:defRPr sz="1725" b="0">
                <a:solidFill>
                  <a:srgbClr val="52606D"/>
                </a:solidFill>
                <a:latin typeface="Arial"/>
                <a:ea typeface="Arial"/>
                <a:cs typeface="Arial"/>
              </a:defRPr>
            </a:pPr>
            <a:r>
              <a:rPr sz="1725" b="0">
                <a:solidFill>
                  <a:srgbClr val="52606D"/>
                </a:solidFill>
                <a:latin typeface="Arial"/>
                <a:ea typeface="Arial"/>
                <a:cs typeface="Arial"/>
              </a:rPr>
              <a:t>Ollama local</a:t>
            </a:r>
          </a:p>
        </p:txBody>
      </p:sp>
      <p:sp>
        <p:nvSpPr>
          <p:cNvPr id="32" name="architecture-node-6">
            <a:extLst xmlns:a="http://schemas.openxmlformats.org/drawingml/2006/main">
              <a:ext uri="{FF2B5EF4-FFF2-40B4-BE49-F238E27FC236}">
                <a16:creationId xmlns:a16="http://schemas.microsoft.com/office/drawing/2014/main" id="{9DED93A0-BEEC-4F9A-B84E-8A2FD378BAEE}"/>
              </a:ext>
            </a:extLst>
          </p:cNvPr>
          <p:cNvSpPr>
            <a:spLocks xmlns:a="http://schemas.openxmlformats.org/drawingml/2006/main" noGrp="1"/>
          </p:cNvSpPr>
          <p:nvPr/>
        </p:nvSpPr>
        <p:spPr>
          <a:xfrm xmlns:a="http://schemas.openxmlformats.org/drawingml/2006/main">
            <a:off x="21050250" y="8334375"/>
            <a:ext cx="3238500" cy="2381250"/>
          </a:xfrm>
          <a:prstGeom xmlns:a="http://schemas.openxmlformats.org/drawingml/2006/main" prst="roundRect">
            <a:avLst>
              <a:gd name="adj" fmla="val 3200"/>
            </a:avLst>
          </a:prstGeom>
          <a:solidFill xmlns:a="http://schemas.openxmlformats.org/drawingml/2006/main">
            <a:srgbClr val="FBEDE8"/>
          </a:solidFill>
          <a:ln xmlns:a="http://schemas.openxmlformats.org/drawingml/2006/main" w="28575">
            <a:solidFill>
              <a:srgbClr val="C95F45"/>
            </a:solidFill>
            <a:prstDash val="solid"/>
          </a:ln>
        </p:spPr>
      </p:sp>
      <p:sp>
        <p:nvSpPr>
          <p:cNvPr id="33" name="architecture-node-6-step">
            <a:extLst xmlns:a="http://schemas.openxmlformats.org/drawingml/2006/main">
              <a:ext uri="{FF2B5EF4-FFF2-40B4-BE49-F238E27FC236}">
                <a16:creationId xmlns:a16="http://schemas.microsoft.com/office/drawing/2014/main" id="{E2C69905-F3C3-4742-AB38-BBC9BF4420AD}"/>
              </a:ext>
            </a:extLst>
          </p:cNvPr>
          <p:cNvSpPr>
            <a:spLocks xmlns:a="http://schemas.openxmlformats.org/drawingml/2006/main" noGrp="1"/>
          </p:cNvSpPr>
          <p:nvPr/>
        </p:nvSpPr>
        <p:spPr>
          <a:xfrm xmlns:a="http://schemas.openxmlformats.org/drawingml/2006/main">
            <a:off x="21259800" y="8505825"/>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C95F45"/>
                </a:solidFill>
                <a:latin typeface="Arial"/>
                <a:ea typeface="Arial"/>
                <a:cs typeface="Arial"/>
              </a:defRPr>
            </a:pPr>
            <a:r>
              <a:rPr sz="1650" b="1">
                <a:solidFill>
                  <a:srgbClr val="C95F45"/>
                </a:solidFill>
                <a:latin typeface="Arial"/>
                <a:ea typeface="Arial"/>
                <a:cs typeface="Arial"/>
              </a:rPr>
              <a:t>06</a:t>
            </a:r>
          </a:p>
        </p:txBody>
      </p:sp>
      <p:sp>
        <p:nvSpPr>
          <p:cNvPr id="34" name="architecture-node-6-title">
            <a:extLst xmlns:a="http://schemas.openxmlformats.org/drawingml/2006/main">
              <a:ext uri="{FF2B5EF4-FFF2-40B4-BE49-F238E27FC236}">
                <a16:creationId xmlns:a16="http://schemas.microsoft.com/office/drawing/2014/main" id="{61F02703-A3CF-48D3-903F-18C831482B69}"/>
              </a:ext>
            </a:extLst>
          </p:cNvPr>
          <p:cNvSpPr>
            <a:spLocks xmlns:a="http://schemas.openxmlformats.org/drawingml/2006/main" noGrp="1"/>
          </p:cNvSpPr>
          <p:nvPr/>
        </p:nvSpPr>
        <p:spPr>
          <a:xfrm xmlns:a="http://schemas.openxmlformats.org/drawingml/2006/main">
            <a:off x="21259800" y="9001125"/>
            <a:ext cx="2819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250" b="1">
                <a:solidFill>
                  <a:srgbClr val="102A43"/>
                </a:solidFill>
                <a:latin typeface="Arial"/>
                <a:ea typeface="Arial"/>
                <a:cs typeface="Arial"/>
              </a:defRPr>
            </a:pPr>
            <a:r>
              <a:rPr sz="2250" b="1">
                <a:solidFill>
                  <a:srgbClr val="102A43"/>
                </a:solidFill>
                <a:latin typeface="Arial"/>
                <a:ea typeface="Arial"/>
                <a:cs typeface="Arial"/>
              </a:rPr>
              <a:t>Validación</a:t>
            </a:r>
          </a:p>
        </p:txBody>
      </p:sp>
      <p:sp>
        <p:nvSpPr>
          <p:cNvPr id="35" name="architecture-node-6-body">
            <a:extLst xmlns:a="http://schemas.openxmlformats.org/drawingml/2006/main">
              <a:ext uri="{FF2B5EF4-FFF2-40B4-BE49-F238E27FC236}">
                <a16:creationId xmlns:a16="http://schemas.microsoft.com/office/drawing/2014/main" id="{6F9069F7-8060-42C7-A1A3-EC57C1DE903B}"/>
              </a:ext>
            </a:extLst>
          </p:cNvPr>
          <p:cNvSpPr>
            <a:spLocks xmlns:a="http://schemas.openxmlformats.org/drawingml/2006/main" noGrp="1"/>
          </p:cNvSpPr>
          <p:nvPr/>
        </p:nvSpPr>
        <p:spPr>
          <a:xfrm xmlns:a="http://schemas.openxmlformats.org/drawingml/2006/main">
            <a:off x="21259800" y="9620250"/>
            <a:ext cx="2819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0">
                <a:solidFill>
                  <a:srgbClr val="52606D"/>
                </a:solidFill>
                <a:latin typeface="Arial"/>
                <a:ea typeface="Arial"/>
                <a:cs typeface="Arial"/>
              </a:defRPr>
            </a:pPr>
            <a:r>
              <a:rPr sz="1725" b="0">
                <a:solidFill>
                  <a:srgbClr val="52606D"/>
                </a:solidFill>
                <a:latin typeface="Arial"/>
                <a:ea typeface="Arial"/>
                <a:cs typeface="Arial"/>
              </a:rPr>
              <a:t>citas visibles</a:t>
            </a:r>
          </a:p>
          <a:p xmlns:a="http://schemas.openxmlformats.org/drawingml/2006/main">
            <a:pPr algn="l">
              <a:lnSpc>
                <a:spcPct val="102000"/>
              </a:lnSpc>
              <a:buNone/>
              <a:defRPr sz="1725" b="0">
                <a:solidFill>
                  <a:srgbClr val="52606D"/>
                </a:solidFill>
                <a:latin typeface="Arial"/>
                <a:ea typeface="Arial"/>
                <a:cs typeface="Arial"/>
              </a:defRPr>
            </a:pPr>
            <a:r>
              <a:rPr sz="1725" b="0">
                <a:solidFill>
                  <a:srgbClr val="52606D"/>
                </a:solidFill>
                <a:latin typeface="Arial"/>
                <a:ea typeface="Arial"/>
                <a:cs typeface="Arial"/>
              </a:rPr>
              <a:t>+ estructuradas</a:t>
            </a:r>
          </a:p>
        </p:txBody>
      </p:sp>
      <p:sp>
        <p:nvSpPr>
          <p:cNvPr id="36" name="architecture-node-7">
            <a:extLst xmlns:a="http://schemas.openxmlformats.org/drawingml/2006/main">
              <a:ext uri="{FF2B5EF4-FFF2-40B4-BE49-F238E27FC236}">
                <a16:creationId xmlns:a16="http://schemas.microsoft.com/office/drawing/2014/main" id="{C41466B3-64CA-4155-ADAB-6622DFC108ED}"/>
              </a:ext>
            </a:extLst>
          </p:cNvPr>
          <p:cNvSpPr>
            <a:spLocks xmlns:a="http://schemas.openxmlformats.org/drawingml/2006/main" noGrp="1"/>
          </p:cNvSpPr>
          <p:nvPr/>
        </p:nvSpPr>
        <p:spPr>
          <a:xfrm xmlns:a="http://schemas.openxmlformats.org/drawingml/2006/main">
            <a:off x="24907875" y="8334375"/>
            <a:ext cx="3238500" cy="2381250"/>
          </a:xfrm>
          <a:prstGeom xmlns:a="http://schemas.openxmlformats.org/drawingml/2006/main" prst="roundRect">
            <a:avLst>
              <a:gd name="adj" fmla="val 3200"/>
            </a:avLst>
          </a:prstGeom>
          <a:solidFill xmlns:a="http://schemas.openxmlformats.org/drawingml/2006/main">
            <a:srgbClr val="E6F4F1"/>
          </a:solidFill>
          <a:ln xmlns:a="http://schemas.openxmlformats.org/drawingml/2006/main" w="28575">
            <a:solidFill>
              <a:srgbClr val="2F855A"/>
            </a:solidFill>
            <a:prstDash val="solid"/>
          </a:ln>
        </p:spPr>
      </p:sp>
      <p:sp>
        <p:nvSpPr>
          <p:cNvPr id="37" name="architecture-node-7-step">
            <a:extLst xmlns:a="http://schemas.openxmlformats.org/drawingml/2006/main">
              <a:ext uri="{FF2B5EF4-FFF2-40B4-BE49-F238E27FC236}">
                <a16:creationId xmlns:a16="http://schemas.microsoft.com/office/drawing/2014/main" id="{47A06098-3A7B-4267-A6D1-24EF7634B519}"/>
              </a:ext>
            </a:extLst>
          </p:cNvPr>
          <p:cNvSpPr>
            <a:spLocks xmlns:a="http://schemas.openxmlformats.org/drawingml/2006/main" noGrp="1"/>
          </p:cNvSpPr>
          <p:nvPr/>
        </p:nvSpPr>
        <p:spPr>
          <a:xfrm xmlns:a="http://schemas.openxmlformats.org/drawingml/2006/main">
            <a:off x="25117425" y="8505825"/>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a:solidFill>
                  <a:srgbClr val="2F855A"/>
                </a:solidFill>
                <a:latin typeface="Arial"/>
                <a:ea typeface="Arial"/>
                <a:cs typeface="Arial"/>
              </a:defRPr>
            </a:pPr>
            <a:r>
              <a:rPr sz="1650" b="1">
                <a:solidFill>
                  <a:srgbClr val="2F855A"/>
                </a:solidFill>
                <a:latin typeface="Arial"/>
                <a:ea typeface="Arial"/>
                <a:cs typeface="Arial"/>
              </a:rPr>
              <a:t>07</a:t>
            </a:r>
          </a:p>
        </p:txBody>
      </p:sp>
      <p:sp>
        <p:nvSpPr>
          <p:cNvPr id="38" name="architecture-node-7-title">
            <a:extLst xmlns:a="http://schemas.openxmlformats.org/drawingml/2006/main">
              <a:ext uri="{FF2B5EF4-FFF2-40B4-BE49-F238E27FC236}">
                <a16:creationId xmlns:a16="http://schemas.microsoft.com/office/drawing/2014/main" id="{7D2B4E83-173A-4B78-94E6-C65A224E314C}"/>
              </a:ext>
            </a:extLst>
          </p:cNvPr>
          <p:cNvSpPr>
            <a:spLocks xmlns:a="http://schemas.openxmlformats.org/drawingml/2006/main" noGrp="1"/>
          </p:cNvSpPr>
          <p:nvPr/>
        </p:nvSpPr>
        <p:spPr>
          <a:xfrm xmlns:a="http://schemas.openxmlformats.org/drawingml/2006/main">
            <a:off x="25117425" y="9001125"/>
            <a:ext cx="2819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250" b="1">
                <a:solidFill>
                  <a:srgbClr val="102A43"/>
                </a:solidFill>
                <a:latin typeface="Arial"/>
                <a:ea typeface="Arial"/>
                <a:cs typeface="Arial"/>
              </a:defRPr>
            </a:pPr>
            <a:r>
              <a:rPr sz="2250" b="1">
                <a:solidFill>
                  <a:srgbClr val="102A43"/>
                </a:solidFill>
                <a:latin typeface="Arial"/>
                <a:ea typeface="Arial"/>
                <a:cs typeface="Arial"/>
              </a:rPr>
              <a:t>Salida</a:t>
            </a:r>
          </a:p>
        </p:txBody>
      </p:sp>
      <p:sp>
        <p:nvSpPr>
          <p:cNvPr id="39" name="architecture-node-7-body">
            <a:extLst xmlns:a="http://schemas.openxmlformats.org/drawingml/2006/main">
              <a:ext uri="{FF2B5EF4-FFF2-40B4-BE49-F238E27FC236}">
                <a16:creationId xmlns:a16="http://schemas.microsoft.com/office/drawing/2014/main" id="{3A55E46F-DE70-4B69-95F3-3A13AA823279}"/>
              </a:ext>
            </a:extLst>
          </p:cNvPr>
          <p:cNvSpPr>
            <a:spLocks xmlns:a="http://schemas.openxmlformats.org/drawingml/2006/main" noGrp="1"/>
          </p:cNvSpPr>
          <p:nvPr/>
        </p:nvSpPr>
        <p:spPr>
          <a:xfrm xmlns:a="http://schemas.openxmlformats.org/drawingml/2006/main">
            <a:off x="25117425" y="9620250"/>
            <a:ext cx="2819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0">
                <a:solidFill>
                  <a:srgbClr val="52606D"/>
                </a:solidFill>
                <a:latin typeface="Arial"/>
                <a:ea typeface="Arial"/>
                <a:cs typeface="Arial"/>
              </a:defRPr>
            </a:pPr>
            <a:r>
              <a:rPr sz="1725" b="0">
                <a:solidFill>
                  <a:srgbClr val="52606D"/>
                </a:solidFill>
                <a:latin typeface="Arial"/>
                <a:ea typeface="Arial"/>
                <a:cs typeface="Arial"/>
              </a:rPr>
              <a:t>respuesta</a:t>
            </a:r>
          </a:p>
          <a:p xmlns:a="http://schemas.openxmlformats.org/drawingml/2006/main">
            <a:pPr algn="l">
              <a:lnSpc>
                <a:spcPct val="102000"/>
              </a:lnSpc>
              <a:buNone/>
              <a:defRPr sz="1725" b="0">
                <a:solidFill>
                  <a:srgbClr val="52606D"/>
                </a:solidFill>
                <a:latin typeface="Arial"/>
                <a:ea typeface="Arial"/>
                <a:cs typeface="Arial"/>
              </a:defRPr>
            </a:pPr>
            <a:r>
              <a:rPr sz="1725" b="0">
                <a:solidFill>
                  <a:srgbClr val="52606D"/>
                </a:solidFill>
                <a:latin typeface="Arial"/>
                <a:ea typeface="Arial"/>
                <a:cs typeface="Arial"/>
              </a:rPr>
              <a:t>+ traza JSON</a:t>
            </a:r>
          </a:p>
        </p:txBody>
      </p:sp>
      <p:cxnSp>
        <p:nvCxnSpPr>
          <p:cNvPr id="162" name=""/>
          <p:cNvCxnSpPr>
            <a:stCxn xmlns:a="http://schemas.openxmlformats.org/drawingml/2006/main" id="12" idx="3"/>
            <a:endCxn xmlns:a="http://schemas.openxmlformats.org/drawingml/2006/main" id="16" idx="1"/>
          </p:cNvCxnSpPr>
          <p:nvPr/>
        </p:nvCxnSpPr>
        <p:spPr>
          <a:xfrm xmlns:a="http://schemas.openxmlformats.org/drawingml/2006/main">
            <a:off x="5000625" y="9525000"/>
            <a:ext cx="619125" cy="0"/>
          </a:xfrm>
          <a:prstGeom xmlns:a="http://schemas.openxmlformats.org/drawingml/2006/main" prst="straightConnector1">
            <a:avLst/>
          </a:prstGeom>
          <a:ln xmlns:a="http://schemas.openxmlformats.org/drawingml/2006/main" w="38100">
            <a:solidFill>
              <a:srgbClr val="CBD2D9"/>
            </a:solidFill>
            <a:prstDash val="solid"/>
            <a:tailEnd type="arrow" w="med" len="med"/>
          </a:ln>
        </p:spPr>
      </p:cxnSp>
      <p:cxnSp>
        <p:nvCxnSpPr>
          <p:cNvPr id="163" name=""/>
          <p:cNvCxnSpPr>
            <a:stCxn xmlns:a="http://schemas.openxmlformats.org/drawingml/2006/main" id="16" idx="3"/>
            <a:endCxn xmlns:a="http://schemas.openxmlformats.org/drawingml/2006/main" id="20" idx="1"/>
          </p:cNvCxnSpPr>
          <p:nvPr/>
        </p:nvCxnSpPr>
        <p:spPr>
          <a:xfrm xmlns:a="http://schemas.openxmlformats.org/drawingml/2006/main">
            <a:off x="8858250" y="9525000"/>
            <a:ext cx="619125" cy="0"/>
          </a:xfrm>
          <a:prstGeom xmlns:a="http://schemas.openxmlformats.org/drawingml/2006/main" prst="straightConnector1">
            <a:avLst/>
          </a:prstGeom>
          <a:ln xmlns:a="http://schemas.openxmlformats.org/drawingml/2006/main" w="38100">
            <a:solidFill>
              <a:srgbClr val="CBD2D9"/>
            </a:solidFill>
            <a:prstDash val="solid"/>
            <a:tailEnd type="arrow" w="med" len="med"/>
          </a:ln>
        </p:spPr>
      </p:cxnSp>
      <p:cxnSp>
        <p:nvCxnSpPr>
          <p:cNvPr id="164" name=""/>
          <p:cNvCxnSpPr>
            <a:stCxn xmlns:a="http://schemas.openxmlformats.org/drawingml/2006/main" id="20" idx="3"/>
            <a:endCxn xmlns:a="http://schemas.openxmlformats.org/drawingml/2006/main" id="24" idx="1"/>
          </p:cNvCxnSpPr>
          <p:nvPr/>
        </p:nvCxnSpPr>
        <p:spPr>
          <a:xfrm xmlns:a="http://schemas.openxmlformats.org/drawingml/2006/main">
            <a:off x="12715875" y="9525000"/>
            <a:ext cx="619125" cy="0"/>
          </a:xfrm>
          <a:prstGeom xmlns:a="http://schemas.openxmlformats.org/drawingml/2006/main" prst="straightConnector1">
            <a:avLst/>
          </a:prstGeom>
          <a:ln xmlns:a="http://schemas.openxmlformats.org/drawingml/2006/main" w="38100">
            <a:solidFill>
              <a:srgbClr val="CBD2D9"/>
            </a:solidFill>
            <a:prstDash val="solid"/>
            <a:tailEnd type="arrow" w="med" len="med"/>
          </a:ln>
        </p:spPr>
      </p:cxnSp>
      <p:cxnSp>
        <p:nvCxnSpPr>
          <p:cNvPr id="165" name=""/>
          <p:cNvCxnSpPr>
            <a:stCxn xmlns:a="http://schemas.openxmlformats.org/drawingml/2006/main" id="24" idx="3"/>
            <a:endCxn xmlns:a="http://schemas.openxmlformats.org/drawingml/2006/main" id="28" idx="1"/>
          </p:cNvCxnSpPr>
          <p:nvPr/>
        </p:nvCxnSpPr>
        <p:spPr>
          <a:xfrm xmlns:a="http://schemas.openxmlformats.org/drawingml/2006/main">
            <a:off x="16573500" y="9525000"/>
            <a:ext cx="619125" cy="0"/>
          </a:xfrm>
          <a:prstGeom xmlns:a="http://schemas.openxmlformats.org/drawingml/2006/main" prst="straightConnector1">
            <a:avLst/>
          </a:prstGeom>
          <a:ln xmlns:a="http://schemas.openxmlformats.org/drawingml/2006/main" w="38100">
            <a:solidFill>
              <a:srgbClr val="CBD2D9"/>
            </a:solidFill>
            <a:prstDash val="solid"/>
            <a:tailEnd type="arrow" w="med" len="med"/>
          </a:ln>
        </p:spPr>
      </p:cxnSp>
      <p:cxnSp>
        <p:nvCxnSpPr>
          <p:cNvPr id="166" name=""/>
          <p:cNvCxnSpPr>
            <a:stCxn xmlns:a="http://schemas.openxmlformats.org/drawingml/2006/main" id="28" idx="3"/>
            <a:endCxn xmlns:a="http://schemas.openxmlformats.org/drawingml/2006/main" id="32" idx="1"/>
          </p:cNvCxnSpPr>
          <p:nvPr/>
        </p:nvCxnSpPr>
        <p:spPr>
          <a:xfrm xmlns:a="http://schemas.openxmlformats.org/drawingml/2006/main">
            <a:off x="20431125" y="9525000"/>
            <a:ext cx="619125" cy="0"/>
          </a:xfrm>
          <a:prstGeom xmlns:a="http://schemas.openxmlformats.org/drawingml/2006/main" prst="straightConnector1">
            <a:avLst/>
          </a:prstGeom>
          <a:ln xmlns:a="http://schemas.openxmlformats.org/drawingml/2006/main" w="38100">
            <a:solidFill>
              <a:srgbClr val="CBD2D9"/>
            </a:solidFill>
            <a:prstDash val="solid"/>
            <a:tailEnd type="arrow" w="med" len="med"/>
          </a:ln>
        </p:spPr>
      </p:cxnSp>
      <p:cxnSp>
        <p:nvCxnSpPr>
          <p:cNvPr id="167" name=""/>
          <p:cNvCxnSpPr>
            <a:stCxn xmlns:a="http://schemas.openxmlformats.org/drawingml/2006/main" id="32" idx="3"/>
            <a:endCxn xmlns:a="http://schemas.openxmlformats.org/drawingml/2006/main" id="36" idx="1"/>
          </p:cNvCxnSpPr>
          <p:nvPr/>
        </p:nvCxnSpPr>
        <p:spPr>
          <a:xfrm xmlns:a="http://schemas.openxmlformats.org/drawingml/2006/main">
            <a:off x="24288750" y="9525000"/>
            <a:ext cx="619125" cy="0"/>
          </a:xfrm>
          <a:prstGeom xmlns:a="http://schemas.openxmlformats.org/drawingml/2006/main" prst="straightConnector1">
            <a:avLst/>
          </a:prstGeom>
          <a:ln xmlns:a="http://schemas.openxmlformats.org/drawingml/2006/main" w="38100">
            <a:solidFill>
              <a:srgbClr val="CBD2D9"/>
            </a:solidFill>
            <a:prstDash val="solid"/>
            <a:tailEnd type="arrow" w="med" len="med"/>
          </a:ln>
        </p:spPr>
      </p:cxnSp>
      <p:sp>
        <p:nvSpPr>
          <p:cNvPr id="46" name="trace-panel">
            <a:extLst xmlns:a="http://schemas.openxmlformats.org/drawingml/2006/main">
              <a:ext uri="{FF2B5EF4-FFF2-40B4-BE49-F238E27FC236}">
                <a16:creationId xmlns:a16="http://schemas.microsoft.com/office/drawing/2014/main" id="{AA5628AA-70CD-4A56-A368-F7CA0706AF8F}"/>
              </a:ext>
            </a:extLst>
          </p:cNvPr>
          <p:cNvSpPr>
            <a:spLocks xmlns:a="http://schemas.openxmlformats.org/drawingml/2006/main" noGrp="1"/>
          </p:cNvSpPr>
          <p:nvPr/>
        </p:nvSpPr>
        <p:spPr>
          <a:xfrm xmlns:a="http://schemas.openxmlformats.org/drawingml/2006/main">
            <a:off x="1762125" y="11382375"/>
            <a:ext cx="26765250" cy="3143250"/>
          </a:xfrm>
          <a:prstGeom xmlns:a="http://schemas.openxmlformats.org/drawingml/2006/main" prst="roundRect">
            <a:avLst>
              <a:gd name="adj" fmla="val 2424"/>
            </a:avLst>
          </a:prstGeom>
          <a:solidFill xmlns:a="http://schemas.openxmlformats.org/drawingml/2006/main">
            <a:srgbClr val="E6F4F1"/>
          </a:solidFill>
          <a:ln xmlns:a="http://schemas.openxmlformats.org/drawingml/2006/main" w="19050">
            <a:solidFill>
              <a:srgbClr val="0F766E"/>
            </a:solidFill>
            <a:prstDash val="solid"/>
          </a:ln>
        </p:spPr>
      </p:sp>
      <p:sp>
        <p:nvSpPr>
          <p:cNvPr id="47" name="trace-title">
            <a:extLst xmlns:a="http://schemas.openxmlformats.org/drawingml/2006/main">
              <a:ext uri="{FF2B5EF4-FFF2-40B4-BE49-F238E27FC236}">
                <a16:creationId xmlns:a16="http://schemas.microsoft.com/office/drawing/2014/main" id="{597AAE5A-D91E-436B-8598-EC28300AD526}"/>
              </a:ext>
            </a:extLst>
          </p:cNvPr>
          <p:cNvSpPr>
            <a:spLocks xmlns:a="http://schemas.openxmlformats.org/drawingml/2006/main" noGrp="1"/>
          </p:cNvSpPr>
          <p:nvPr/>
        </p:nvSpPr>
        <p:spPr>
          <a:xfrm xmlns:a="http://schemas.openxmlformats.org/drawingml/2006/main">
            <a:off x="2095500" y="11715750"/>
            <a:ext cx="571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325" b="1">
                <a:solidFill>
                  <a:srgbClr val="0B5F58"/>
                </a:solidFill>
                <a:latin typeface="Arial"/>
                <a:ea typeface="Arial"/>
                <a:cs typeface="Arial"/>
              </a:defRPr>
            </a:pPr>
            <a:r>
              <a:rPr sz="2325" b="1">
                <a:solidFill>
                  <a:srgbClr val="0B5F58"/>
                </a:solidFill>
                <a:latin typeface="Arial"/>
                <a:ea typeface="Arial"/>
                <a:cs typeface="Arial"/>
              </a:rPr>
              <a:t>Traza observable por consulta</a:t>
            </a:r>
          </a:p>
        </p:txBody>
      </p:sp>
      <p:sp>
        <p:nvSpPr>
          <p:cNvPr id="48" name="trace-fields">
            <a:extLst xmlns:a="http://schemas.openxmlformats.org/drawingml/2006/main">
              <a:ext uri="{FF2B5EF4-FFF2-40B4-BE49-F238E27FC236}">
                <a16:creationId xmlns:a16="http://schemas.microsoft.com/office/drawing/2014/main" id="{A4895D6A-209B-4C02-9BCB-89A786F258F2}"/>
              </a:ext>
            </a:extLst>
          </p:cNvPr>
          <p:cNvSpPr>
            <a:spLocks xmlns:a="http://schemas.openxmlformats.org/drawingml/2006/main" noGrp="1"/>
          </p:cNvSpPr>
          <p:nvPr/>
        </p:nvSpPr>
        <p:spPr>
          <a:xfrm xmlns:a="http://schemas.openxmlformats.org/drawingml/2006/main">
            <a:off x="2095500" y="12430125"/>
            <a:ext cx="260508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325" b="1">
                <a:solidFill>
                  <a:srgbClr val="102A43"/>
                </a:solidFill>
                <a:latin typeface="Arial"/>
                <a:ea typeface="Arial"/>
                <a:cs typeface="Arial"/>
              </a:defRPr>
            </a:pPr>
            <a:r>
              <a:rPr sz="2325" b="1">
                <a:solidFill>
                  <a:srgbClr val="102A43"/>
                </a:solidFill>
                <a:latin typeface="Arial"/>
                <a:ea typeface="Arial"/>
                <a:cs typeface="Arial"/>
              </a:rPr>
              <a:t>pregunta  →  IDs y puntuaciones de fragmentos  →  contexto  →  respuesta y estado  →  citas  →  tiempos</a:t>
            </a:r>
          </a:p>
        </p:txBody>
      </p:sp>
      <p:sp>
        <p:nvSpPr>
          <p:cNvPr id="49" name="trace-explanation">
            <a:extLst xmlns:a="http://schemas.openxmlformats.org/drawingml/2006/main">
              <a:ext uri="{FF2B5EF4-FFF2-40B4-BE49-F238E27FC236}">
                <a16:creationId xmlns:a16="http://schemas.microsoft.com/office/drawing/2014/main" id="{39A06995-902A-45FC-A4BF-DD1D81D00D3E}"/>
              </a:ext>
            </a:extLst>
          </p:cNvPr>
          <p:cNvSpPr>
            <a:spLocks xmlns:a="http://schemas.openxmlformats.org/drawingml/2006/main" noGrp="1"/>
          </p:cNvSpPr>
          <p:nvPr/>
        </p:nvSpPr>
        <p:spPr>
          <a:xfrm xmlns:a="http://schemas.openxmlformats.org/drawingml/2006/main">
            <a:off x="2381250" y="13430250"/>
            <a:ext cx="2547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00" b="0">
                <a:solidFill>
                  <a:srgbClr val="52606D"/>
                </a:solidFill>
                <a:latin typeface="Arial"/>
                <a:ea typeface="Arial"/>
                <a:cs typeface="Arial"/>
              </a:defRPr>
            </a:pPr>
            <a:r>
              <a:rPr sz="1800" b="0">
                <a:solidFill>
                  <a:srgbClr val="52606D"/>
                </a:solidFill>
                <a:latin typeface="Arial"/>
                <a:ea typeface="Arial"/>
                <a:cs typeface="Arial"/>
              </a:rPr>
              <a:t>El corpus, el índice, las preguntas, la configuración y los resultados quedan versionados. Esto permite reproducir la corrida y separar fallos de recuperación, generación y validación.</a:t>
            </a:r>
          </a:p>
        </p:txBody>
      </p:sp>
      <p:sp>
        <p:nvSpPr>
          <p:cNvPr id="50" name="architecture-configuration">
            <a:extLst xmlns:a="http://schemas.openxmlformats.org/drawingml/2006/main">
              <a:ext uri="{FF2B5EF4-FFF2-40B4-BE49-F238E27FC236}">
                <a16:creationId xmlns:a16="http://schemas.microsoft.com/office/drawing/2014/main" id="{0F0FB1A2-026B-4066-AEA3-0B858CB5EC36}"/>
              </a:ext>
            </a:extLst>
          </p:cNvPr>
          <p:cNvSpPr>
            <a:spLocks xmlns:a="http://schemas.openxmlformats.org/drawingml/2006/main" noGrp="1"/>
          </p:cNvSpPr>
          <p:nvPr/>
        </p:nvSpPr>
        <p:spPr>
          <a:xfrm xmlns:a="http://schemas.openxmlformats.org/drawingml/2006/main">
            <a:off x="1762125" y="15001875"/>
            <a:ext cx="26765250"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CBD2D9"/>
            </a:solidFill>
            <a:prstDash val="solid"/>
          </a:ln>
        </p:spPr>
        <p:txBody>
          <a:bodyPr xmlns:a="http://schemas.openxmlformats.org/drawingml/2006/main" wrap="square" lIns="190500" tIns="76200" rIns="190500" bIns="76200" anchor="ctr">
            <a:normAutofit fontScale="100000"/>
          </a:bodyPr>
          <a:lstStyle xmlns:a="http://schemas.openxmlformats.org/drawingml/2006/main"/>
          <a:p xmlns:a="http://schemas.openxmlformats.org/drawingml/2006/main">
            <a:pPr algn="ctr">
              <a:lnSpc>
                <a:spcPct val="100000"/>
              </a:lnSpc>
              <a:buNone/>
              <a:defRPr sz="1875" b="1">
                <a:solidFill>
                  <a:srgbClr val="102A43"/>
                </a:solidFill>
                <a:latin typeface="Arial"/>
                <a:ea typeface="Arial"/>
                <a:cs typeface="Arial"/>
              </a:defRPr>
            </a:pPr>
            <a:r>
              <a:rPr sz="1875" b="1">
                <a:solidFill>
                  <a:srgbClr val="102A43"/>
                </a:solidFill>
                <a:latin typeface="Arial"/>
                <a:ea typeface="Arial"/>
                <a:cs typeface="Arial"/>
              </a:rPr>
              <a:t>Configuración: multilingual-e5-small · top-5 · Qwen3.5:9B Q4_K_M · temperatura 0,1 · ejecución local</a:t>
            </a:r>
          </a:p>
        </p:txBody>
      </p:sp>
      <p:sp>
        <p:nvSpPr>
          <p:cNvPr id="51" name="column-rule-1">
            <a:extLst xmlns:a="http://schemas.openxmlformats.org/drawingml/2006/main">
              <a:ext uri="{FF2B5EF4-FFF2-40B4-BE49-F238E27FC236}">
                <a16:creationId xmlns:a16="http://schemas.microsoft.com/office/drawing/2014/main" id="{C191534D-72FE-463D-B7E0-59835D7470F9}"/>
              </a:ext>
            </a:extLst>
          </p:cNvPr>
          <p:cNvSpPr>
            <a:spLocks xmlns:a="http://schemas.openxmlformats.org/drawingml/2006/main" noGrp="1"/>
          </p:cNvSpPr>
          <p:nvPr/>
        </p:nvSpPr>
        <p:spPr>
          <a:xfrm xmlns:a="http://schemas.openxmlformats.org/drawingml/2006/main">
            <a:off x="10353675" y="17478375"/>
            <a:ext cx="19050" cy="22431375"/>
          </a:xfrm>
          <a:prstGeom xmlns:a="http://schemas.openxmlformats.org/drawingml/2006/main" prst="rect">
            <a:avLst/>
          </a:prstGeom>
          <a:solidFill xmlns:a="http://schemas.openxmlformats.org/drawingml/2006/main">
            <a:srgbClr val="CBD2D9"/>
          </a:solidFill>
          <a:ln xmlns:a="http://schemas.openxmlformats.org/drawingml/2006/main" w="0">
            <a:noFill/>
            <a:prstDash val="solid"/>
          </a:ln>
        </p:spPr>
      </p:sp>
      <p:sp>
        <p:nvSpPr>
          <p:cNvPr id="52" name="column-rule-2">
            <a:extLst xmlns:a="http://schemas.openxmlformats.org/drawingml/2006/main">
              <a:ext uri="{FF2B5EF4-FFF2-40B4-BE49-F238E27FC236}">
                <a16:creationId xmlns:a16="http://schemas.microsoft.com/office/drawing/2014/main" id="{D9595AED-38A5-476F-9E0F-404522A2D711}"/>
              </a:ext>
            </a:extLst>
          </p:cNvPr>
          <p:cNvSpPr>
            <a:spLocks xmlns:a="http://schemas.openxmlformats.org/drawingml/2006/main" noGrp="1"/>
          </p:cNvSpPr>
          <p:nvPr/>
        </p:nvSpPr>
        <p:spPr>
          <a:xfrm xmlns:a="http://schemas.openxmlformats.org/drawingml/2006/main">
            <a:off x="19907250" y="17478375"/>
            <a:ext cx="19050" cy="22431375"/>
          </a:xfrm>
          <a:prstGeom xmlns:a="http://schemas.openxmlformats.org/drawingml/2006/main" prst="rect">
            <a:avLst/>
          </a:prstGeom>
          <a:solidFill xmlns:a="http://schemas.openxmlformats.org/drawingml/2006/main">
            <a:srgbClr val="CBD2D9"/>
          </a:solidFill>
          <a:ln xmlns:a="http://schemas.openxmlformats.org/drawingml/2006/main" w="0">
            <a:noFill/>
            <a:prstDash val="solid"/>
          </a:ln>
        </p:spPr>
      </p:sp>
      <p:sp>
        <p:nvSpPr>
          <p:cNvPr id="53" name="problem-title-bar">
            <a:extLst xmlns:a="http://schemas.openxmlformats.org/drawingml/2006/main">
              <a:ext uri="{FF2B5EF4-FFF2-40B4-BE49-F238E27FC236}">
                <a16:creationId xmlns:a16="http://schemas.microsoft.com/office/drawing/2014/main" id="{CCBCAE2B-48AD-408F-90FF-47244583B312}"/>
              </a:ext>
            </a:extLst>
          </p:cNvPr>
          <p:cNvSpPr>
            <a:spLocks xmlns:a="http://schemas.openxmlformats.org/drawingml/2006/main" noGrp="1"/>
          </p:cNvSpPr>
          <p:nvPr/>
        </p:nvSpPr>
        <p:spPr>
          <a:xfrm xmlns:a="http://schemas.openxmlformats.org/drawingml/2006/main">
            <a:off x="1143000" y="17449800"/>
            <a:ext cx="95250" cy="400050"/>
          </a:xfrm>
          <a:prstGeom xmlns:a="http://schemas.openxmlformats.org/drawingml/2006/main" prst="rect">
            <a:avLst/>
          </a:prstGeom>
          <a:solidFill xmlns:a="http://schemas.openxmlformats.org/drawingml/2006/main">
            <a:srgbClr val="2D6CDF"/>
          </a:solidFill>
          <a:ln xmlns:a="http://schemas.openxmlformats.org/drawingml/2006/main" w="0">
            <a:noFill/>
            <a:prstDash val="solid"/>
          </a:ln>
        </p:spPr>
      </p:sp>
      <p:sp>
        <p:nvSpPr>
          <p:cNvPr id="54" name="problem-title">
            <a:extLst xmlns:a="http://schemas.openxmlformats.org/drawingml/2006/main">
              <a:ext uri="{FF2B5EF4-FFF2-40B4-BE49-F238E27FC236}">
                <a16:creationId xmlns:a16="http://schemas.microsoft.com/office/drawing/2014/main" id="{D3E96D78-EBBA-47E2-8FD7-638DF9BA89E0}"/>
              </a:ext>
            </a:extLst>
          </p:cNvPr>
          <p:cNvSpPr>
            <a:spLocks xmlns:a="http://schemas.openxmlformats.org/drawingml/2006/main" noGrp="1"/>
          </p:cNvSpPr>
          <p:nvPr/>
        </p:nvSpPr>
        <p:spPr>
          <a:xfrm xmlns:a="http://schemas.openxmlformats.org/drawingml/2006/main">
            <a:off x="1409700" y="17383125"/>
            <a:ext cx="86010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02A43"/>
                </a:solidFill>
                <a:latin typeface="Arial"/>
                <a:ea typeface="Arial"/>
                <a:cs typeface="Arial"/>
              </a:defRPr>
            </a:pPr>
            <a:r>
              <a:rPr sz="3000" b="1">
                <a:solidFill>
                  <a:srgbClr val="102A43"/>
                </a:solidFill>
                <a:latin typeface="Arial"/>
                <a:ea typeface="Arial"/>
                <a:cs typeface="Arial"/>
              </a:rPr>
              <a:t>Problema y objetivo</a:t>
            </a:r>
          </a:p>
        </p:txBody>
      </p:sp>
      <p:sp>
        <p:nvSpPr>
          <p:cNvPr id="55" name="problem-body">
            <a:extLst xmlns:a="http://schemas.openxmlformats.org/drawingml/2006/main">
              <a:ext uri="{FF2B5EF4-FFF2-40B4-BE49-F238E27FC236}">
                <a16:creationId xmlns:a16="http://schemas.microsoft.com/office/drawing/2014/main" id="{FFA33808-9072-4B68-9712-7D77FBA5C33F}"/>
              </a:ext>
            </a:extLst>
          </p:cNvPr>
          <p:cNvSpPr>
            <a:spLocks xmlns:a="http://schemas.openxmlformats.org/drawingml/2006/main" noGrp="1"/>
          </p:cNvSpPr>
          <p:nvPr/>
        </p:nvSpPr>
        <p:spPr>
          <a:xfrm xmlns:a="http://schemas.openxmlformats.org/drawingml/2006/main">
            <a:off x="1143000" y="18126075"/>
            <a:ext cx="8867775"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2025" b="0">
                <a:solidFill>
                  <a:srgbClr val="52606D"/>
                </a:solidFill>
                <a:latin typeface="Arial"/>
                <a:ea typeface="Arial"/>
                <a:cs typeface="Arial"/>
              </a:defRPr>
            </a:pPr>
            <a:r>
              <a:rPr sz="2025" b="0">
                <a:solidFill>
                  <a:srgbClr val="52606D"/>
                </a:solidFill>
                <a:latin typeface="Arial"/>
                <a:ea typeface="Arial"/>
                <a:cs typeface="Arial"/>
              </a:rPr>
              <a:t>Los prototipos RAG suelen mostrar una respuesta final, pero no siempre conservan la cadena de evidencia necesaria para explicar por qué fue generada. Sin una traza es difícil distinguir fallos de recuperación, generación o validación.</a:t>
            </a:r>
          </a:p>
        </p:txBody>
      </p:sp>
      <p:sp>
        <p:nvSpPr>
          <p:cNvPr id="56" name="objective-panel">
            <a:extLst xmlns:a="http://schemas.openxmlformats.org/drawingml/2006/main">
              <a:ext uri="{FF2B5EF4-FFF2-40B4-BE49-F238E27FC236}">
                <a16:creationId xmlns:a16="http://schemas.microsoft.com/office/drawing/2014/main" id="{4A8C5350-EDD9-435D-A01D-2F557FBE0381}"/>
              </a:ext>
            </a:extLst>
          </p:cNvPr>
          <p:cNvSpPr>
            <a:spLocks xmlns:a="http://schemas.openxmlformats.org/drawingml/2006/main" noGrp="1"/>
          </p:cNvSpPr>
          <p:nvPr/>
        </p:nvSpPr>
        <p:spPr>
          <a:xfrm xmlns:a="http://schemas.openxmlformats.org/drawingml/2006/main">
            <a:off x="1143000" y="20812125"/>
            <a:ext cx="8867775" cy="2476500"/>
          </a:xfrm>
          <a:prstGeom xmlns:a="http://schemas.openxmlformats.org/drawingml/2006/main" prst="roundRect">
            <a:avLst>
              <a:gd name="adj" fmla="val 3077"/>
            </a:avLst>
          </a:prstGeom>
          <a:solidFill xmlns:a="http://schemas.openxmlformats.org/drawingml/2006/main">
            <a:srgbClr val="EAF4FB"/>
          </a:solidFill>
          <a:ln xmlns:a="http://schemas.openxmlformats.org/drawingml/2006/main" w="19050">
            <a:solidFill>
              <a:srgbClr val="2D6CDF"/>
            </a:solidFill>
            <a:prstDash val="solid"/>
          </a:ln>
        </p:spPr>
      </p:sp>
      <p:sp>
        <p:nvSpPr>
          <p:cNvPr id="57" name="objective-label">
            <a:extLst xmlns:a="http://schemas.openxmlformats.org/drawingml/2006/main">
              <a:ext uri="{FF2B5EF4-FFF2-40B4-BE49-F238E27FC236}">
                <a16:creationId xmlns:a16="http://schemas.microsoft.com/office/drawing/2014/main" id="{1AD755A6-EF5F-4C3A-BD4F-4E9482853075}"/>
              </a:ext>
            </a:extLst>
          </p:cNvPr>
          <p:cNvSpPr>
            <a:spLocks xmlns:a="http://schemas.openxmlformats.org/drawingml/2006/main" noGrp="1"/>
          </p:cNvSpPr>
          <p:nvPr/>
        </p:nvSpPr>
        <p:spPr>
          <a:xfrm xmlns:a="http://schemas.openxmlformats.org/drawingml/2006/main">
            <a:off x="1409700" y="21021675"/>
            <a:ext cx="8334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2D6CDF"/>
                </a:solidFill>
                <a:latin typeface="Arial"/>
                <a:ea typeface="Arial"/>
                <a:cs typeface="Arial"/>
              </a:defRPr>
            </a:pPr>
            <a:r>
              <a:rPr sz="1575" b="1">
                <a:solidFill>
                  <a:srgbClr val="2D6CDF"/>
                </a:solidFill>
                <a:latin typeface="Arial"/>
                <a:ea typeface="Arial"/>
                <a:cs typeface="Arial"/>
              </a:rPr>
              <a:t>OBJETIVO</a:t>
            </a:r>
          </a:p>
        </p:txBody>
      </p:sp>
      <p:sp>
        <p:nvSpPr>
          <p:cNvPr id="58" name="objective-body">
            <a:extLst xmlns:a="http://schemas.openxmlformats.org/drawingml/2006/main">
              <a:ext uri="{FF2B5EF4-FFF2-40B4-BE49-F238E27FC236}">
                <a16:creationId xmlns:a16="http://schemas.microsoft.com/office/drawing/2014/main" id="{1CB50525-7858-407C-9AF7-368F89E20EE3}"/>
              </a:ext>
            </a:extLst>
          </p:cNvPr>
          <p:cNvSpPr>
            <a:spLocks xmlns:a="http://schemas.openxmlformats.org/drawingml/2006/main" noGrp="1"/>
          </p:cNvSpPr>
          <p:nvPr/>
        </p:nvSpPr>
        <p:spPr>
          <a:xfrm xmlns:a="http://schemas.openxmlformats.org/drawingml/2006/main">
            <a:off x="1409700" y="21555075"/>
            <a:ext cx="8334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102A43"/>
                </a:solidFill>
                <a:latin typeface="Arial"/>
                <a:ea typeface="Arial"/>
                <a:cs typeface="Arial"/>
              </a:defRPr>
            </a:pPr>
            <a:r>
              <a:rPr sz="2025" b="1">
                <a:solidFill>
                  <a:srgbClr val="102A43"/>
                </a:solidFill>
                <a:latin typeface="Arial"/>
                <a:ea typeface="Arial"/>
                <a:cs typeface="Arial"/>
              </a:rPr>
              <a:t>Diseñar e implementar una arquitectura RAG mínima, local y reproducible para documentos en español latinoamericano, con señales básicas de observabilidad por consulta.</a:t>
            </a:r>
          </a:p>
        </p:txBody>
      </p:sp>
      <p:sp>
        <p:nvSpPr>
          <p:cNvPr id="59" name="case-title-bar">
            <a:extLst xmlns:a="http://schemas.openxmlformats.org/drawingml/2006/main">
              <a:ext uri="{FF2B5EF4-FFF2-40B4-BE49-F238E27FC236}">
                <a16:creationId xmlns:a16="http://schemas.microsoft.com/office/drawing/2014/main" id="{B2A561FE-DFFB-4B02-A0A8-033D3F3D3E8F}"/>
              </a:ext>
            </a:extLst>
          </p:cNvPr>
          <p:cNvSpPr>
            <a:spLocks xmlns:a="http://schemas.openxmlformats.org/drawingml/2006/main" noGrp="1"/>
          </p:cNvSpPr>
          <p:nvPr/>
        </p:nvSpPr>
        <p:spPr>
          <a:xfrm xmlns:a="http://schemas.openxmlformats.org/drawingml/2006/main">
            <a:off x="1143000" y="23831550"/>
            <a:ext cx="95250" cy="4000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60" name="case-title">
            <a:extLst xmlns:a="http://schemas.openxmlformats.org/drawingml/2006/main">
              <a:ext uri="{FF2B5EF4-FFF2-40B4-BE49-F238E27FC236}">
                <a16:creationId xmlns:a16="http://schemas.microsoft.com/office/drawing/2014/main" id="{33D222EF-DCF8-4C93-A118-B07C1B9927B2}"/>
              </a:ext>
            </a:extLst>
          </p:cNvPr>
          <p:cNvSpPr>
            <a:spLocks xmlns:a="http://schemas.openxmlformats.org/drawingml/2006/main" noGrp="1"/>
          </p:cNvSpPr>
          <p:nvPr/>
        </p:nvSpPr>
        <p:spPr>
          <a:xfrm xmlns:a="http://schemas.openxmlformats.org/drawingml/2006/main">
            <a:off x="1409700" y="23764875"/>
            <a:ext cx="86010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02A43"/>
                </a:solidFill>
                <a:latin typeface="Arial"/>
                <a:ea typeface="Arial"/>
                <a:cs typeface="Arial"/>
              </a:defRPr>
            </a:pPr>
            <a:r>
              <a:rPr sz="3000" b="1">
                <a:solidFill>
                  <a:srgbClr val="102A43"/>
                </a:solidFill>
                <a:latin typeface="Arial"/>
                <a:ea typeface="Arial"/>
                <a:cs typeface="Arial"/>
              </a:rPr>
              <a:t>Caso de estudio</a:t>
            </a:r>
          </a:p>
        </p:txBody>
      </p:sp>
      <p:sp>
        <p:nvSpPr>
          <p:cNvPr id="61" name="docs-value">
            <a:extLst xmlns:a="http://schemas.openxmlformats.org/drawingml/2006/main">
              <a:ext uri="{FF2B5EF4-FFF2-40B4-BE49-F238E27FC236}">
                <a16:creationId xmlns:a16="http://schemas.microsoft.com/office/drawing/2014/main" id="{1012B431-D255-48A8-88C5-80088A0F85A1}"/>
              </a:ext>
            </a:extLst>
          </p:cNvPr>
          <p:cNvSpPr>
            <a:spLocks xmlns:a="http://schemas.openxmlformats.org/drawingml/2006/main" noGrp="1"/>
          </p:cNvSpPr>
          <p:nvPr/>
        </p:nvSpPr>
        <p:spPr>
          <a:xfrm xmlns:a="http://schemas.openxmlformats.org/drawingml/2006/main">
            <a:off x="1143000" y="24507825"/>
            <a:ext cx="238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lnSpc>
                <a:spcPct val="100000"/>
              </a:lnSpc>
              <a:buNone/>
              <a:defRPr sz="5250" b="1">
                <a:solidFill>
                  <a:srgbClr val="0F766E"/>
                </a:solidFill>
                <a:latin typeface="Arial"/>
                <a:ea typeface="Arial"/>
                <a:cs typeface="Arial"/>
              </a:defRPr>
            </a:pPr>
            <a:r>
              <a:rPr sz="5250" b="1">
                <a:solidFill>
                  <a:srgbClr val="0F766E"/>
                </a:solidFill>
                <a:latin typeface="Arial"/>
                <a:ea typeface="Arial"/>
                <a:cs typeface="Arial"/>
              </a:rPr>
              <a:t>25</a:t>
            </a:r>
          </a:p>
        </p:txBody>
      </p:sp>
      <p:sp>
        <p:nvSpPr>
          <p:cNvPr id="62" name="docs-label">
            <a:extLst xmlns:a="http://schemas.openxmlformats.org/drawingml/2006/main">
              <a:ext uri="{FF2B5EF4-FFF2-40B4-BE49-F238E27FC236}">
                <a16:creationId xmlns:a16="http://schemas.microsoft.com/office/drawing/2014/main" id="{771936E4-F650-4801-BD02-9F8166F979D5}"/>
              </a:ext>
            </a:extLst>
          </p:cNvPr>
          <p:cNvSpPr>
            <a:spLocks xmlns:a="http://schemas.openxmlformats.org/drawingml/2006/main" noGrp="1"/>
          </p:cNvSpPr>
          <p:nvPr/>
        </p:nvSpPr>
        <p:spPr>
          <a:xfrm xmlns:a="http://schemas.openxmlformats.org/drawingml/2006/main">
            <a:off x="1143000" y="25441275"/>
            <a:ext cx="238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02A43"/>
                </a:solidFill>
                <a:latin typeface="Arial"/>
                <a:ea typeface="Arial"/>
                <a:cs typeface="Arial"/>
              </a:defRPr>
            </a:pPr>
            <a:r>
              <a:rPr sz="1875" b="1">
                <a:solidFill>
                  <a:srgbClr val="102A43"/>
                </a:solidFill>
                <a:latin typeface="Arial"/>
                <a:ea typeface="Arial"/>
                <a:cs typeface="Arial"/>
              </a:rPr>
              <a:t>documentos oficiales</a:t>
            </a:r>
          </a:p>
        </p:txBody>
      </p:sp>
      <p:sp>
        <p:nvSpPr>
          <p:cNvPr id="63" name="sections-value">
            <a:extLst xmlns:a="http://schemas.openxmlformats.org/drawingml/2006/main">
              <a:ext uri="{FF2B5EF4-FFF2-40B4-BE49-F238E27FC236}">
                <a16:creationId xmlns:a16="http://schemas.microsoft.com/office/drawing/2014/main" id="{4E3D9E02-4CCC-4C45-99F8-4D6E43F46AC5}"/>
              </a:ext>
            </a:extLst>
          </p:cNvPr>
          <p:cNvSpPr>
            <a:spLocks xmlns:a="http://schemas.openxmlformats.org/drawingml/2006/main" noGrp="1"/>
          </p:cNvSpPr>
          <p:nvPr/>
        </p:nvSpPr>
        <p:spPr>
          <a:xfrm xmlns:a="http://schemas.openxmlformats.org/drawingml/2006/main">
            <a:off x="4000500" y="24507825"/>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lnSpc>
                <a:spcPct val="100000"/>
              </a:lnSpc>
              <a:buNone/>
              <a:defRPr sz="5250" b="1">
                <a:solidFill>
                  <a:srgbClr val="0F766E"/>
                </a:solidFill>
                <a:latin typeface="Arial"/>
                <a:ea typeface="Arial"/>
                <a:cs typeface="Arial"/>
              </a:defRPr>
            </a:pPr>
            <a:r>
              <a:rPr sz="5250" b="1">
                <a:solidFill>
                  <a:srgbClr val="0F766E"/>
                </a:solidFill>
                <a:latin typeface="Arial"/>
                <a:ea typeface="Arial"/>
                <a:cs typeface="Arial"/>
              </a:rPr>
              <a:t>1 184</a:t>
            </a:r>
          </a:p>
        </p:txBody>
      </p:sp>
      <p:sp>
        <p:nvSpPr>
          <p:cNvPr id="64" name="sections-label">
            <a:extLst xmlns:a="http://schemas.openxmlformats.org/drawingml/2006/main">
              <a:ext uri="{FF2B5EF4-FFF2-40B4-BE49-F238E27FC236}">
                <a16:creationId xmlns:a16="http://schemas.microsoft.com/office/drawing/2014/main" id="{9DC71BDF-0B61-48AC-B629-7265F9411526}"/>
              </a:ext>
            </a:extLst>
          </p:cNvPr>
          <p:cNvSpPr>
            <a:spLocks xmlns:a="http://schemas.openxmlformats.org/drawingml/2006/main" noGrp="1"/>
          </p:cNvSpPr>
          <p:nvPr/>
        </p:nvSpPr>
        <p:spPr>
          <a:xfrm xmlns:a="http://schemas.openxmlformats.org/drawingml/2006/main">
            <a:off x="4000500" y="25441275"/>
            <a:ext cx="285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02A43"/>
                </a:solidFill>
                <a:latin typeface="Arial"/>
                <a:ea typeface="Arial"/>
                <a:cs typeface="Arial"/>
              </a:defRPr>
            </a:pPr>
            <a:r>
              <a:rPr sz="1875" b="1">
                <a:solidFill>
                  <a:srgbClr val="102A43"/>
                </a:solidFill>
                <a:latin typeface="Arial"/>
                <a:ea typeface="Arial"/>
                <a:cs typeface="Arial"/>
              </a:rPr>
              <a:t>secciones procesadas</a:t>
            </a:r>
          </a:p>
        </p:txBody>
      </p:sp>
      <p:sp>
        <p:nvSpPr>
          <p:cNvPr id="65" name="chunks-value">
            <a:extLst xmlns:a="http://schemas.openxmlformats.org/drawingml/2006/main">
              <a:ext uri="{FF2B5EF4-FFF2-40B4-BE49-F238E27FC236}">
                <a16:creationId xmlns:a16="http://schemas.microsoft.com/office/drawing/2014/main" id="{412B9D32-FBC5-484B-9017-D4FEA75FB93D}"/>
              </a:ext>
            </a:extLst>
          </p:cNvPr>
          <p:cNvSpPr>
            <a:spLocks xmlns:a="http://schemas.openxmlformats.org/drawingml/2006/main" noGrp="1"/>
          </p:cNvSpPr>
          <p:nvPr/>
        </p:nvSpPr>
        <p:spPr>
          <a:xfrm xmlns:a="http://schemas.openxmlformats.org/drawingml/2006/main">
            <a:off x="7334250" y="24507825"/>
            <a:ext cx="26765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lnSpc>
                <a:spcPct val="100000"/>
              </a:lnSpc>
              <a:buNone/>
              <a:defRPr sz="5250" b="1">
                <a:solidFill>
                  <a:srgbClr val="0F766E"/>
                </a:solidFill>
                <a:latin typeface="Arial"/>
                <a:ea typeface="Arial"/>
                <a:cs typeface="Arial"/>
              </a:defRPr>
            </a:pPr>
            <a:r>
              <a:rPr sz="5250" b="1">
                <a:solidFill>
                  <a:srgbClr val="0F766E"/>
                </a:solidFill>
                <a:latin typeface="Arial"/>
                <a:ea typeface="Arial"/>
                <a:cs typeface="Arial"/>
              </a:rPr>
              <a:t>1 259</a:t>
            </a:r>
          </a:p>
        </p:txBody>
      </p:sp>
      <p:sp>
        <p:nvSpPr>
          <p:cNvPr id="66" name="chunks-label">
            <a:extLst xmlns:a="http://schemas.openxmlformats.org/drawingml/2006/main">
              <a:ext uri="{FF2B5EF4-FFF2-40B4-BE49-F238E27FC236}">
                <a16:creationId xmlns:a16="http://schemas.microsoft.com/office/drawing/2014/main" id="{3CE3111E-721A-411B-828C-044F990B65E8}"/>
              </a:ext>
            </a:extLst>
          </p:cNvPr>
          <p:cNvSpPr>
            <a:spLocks xmlns:a="http://schemas.openxmlformats.org/drawingml/2006/main" noGrp="1"/>
          </p:cNvSpPr>
          <p:nvPr/>
        </p:nvSpPr>
        <p:spPr>
          <a:xfrm xmlns:a="http://schemas.openxmlformats.org/drawingml/2006/main">
            <a:off x="7334250" y="25441275"/>
            <a:ext cx="26765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02A43"/>
                </a:solidFill>
                <a:latin typeface="Arial"/>
                <a:ea typeface="Arial"/>
                <a:cs typeface="Arial"/>
              </a:defRPr>
            </a:pPr>
            <a:r>
              <a:rPr sz="1875" b="1">
                <a:solidFill>
                  <a:srgbClr val="102A43"/>
                </a:solidFill>
                <a:latin typeface="Arial"/>
                <a:ea typeface="Arial"/>
                <a:cs typeface="Arial"/>
              </a:rPr>
              <a:t>fragmentos indexados</a:t>
            </a:r>
          </a:p>
        </p:txBody>
      </p:sp>
      <p:sp>
        <p:nvSpPr>
          <p:cNvPr id="67" name="case-detail">
            <a:extLst xmlns:a="http://schemas.openxmlformats.org/drawingml/2006/main">
              <a:ext uri="{FF2B5EF4-FFF2-40B4-BE49-F238E27FC236}">
                <a16:creationId xmlns:a16="http://schemas.microsoft.com/office/drawing/2014/main" id="{812C1633-DDA6-4941-B9FB-355276AA2365}"/>
              </a:ext>
            </a:extLst>
          </p:cNvPr>
          <p:cNvSpPr>
            <a:spLocks xmlns:a="http://schemas.openxmlformats.org/drawingml/2006/main" noGrp="1"/>
          </p:cNvSpPr>
          <p:nvPr/>
        </p:nvSpPr>
        <p:spPr>
          <a:xfrm xmlns:a="http://schemas.openxmlformats.org/drawingml/2006/main">
            <a:off x="1143000" y="26431875"/>
            <a:ext cx="88677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a:solidFill>
                  <a:srgbClr val="52606D"/>
                </a:solidFill>
                <a:latin typeface="Arial"/>
                <a:ea typeface="Arial"/>
                <a:cs typeface="Arial"/>
              </a:defRPr>
            </a:pPr>
            <a:r>
              <a:rPr sz="1875" b="0">
                <a:solidFill>
                  <a:srgbClr val="52606D"/>
                </a:solidFill>
                <a:latin typeface="Arial"/>
                <a:ea typeface="Arial"/>
                <a:cs typeface="Arial"/>
              </a:rPr>
              <a:t>Normativa estudiantil del TEC, Costa Rica. Cada captura conserva URL, fecha y suma de verificación.</a:t>
            </a:r>
          </a:p>
        </p:txBody>
      </p:sp>
      <p:sp>
        <p:nvSpPr>
          <p:cNvPr id="68" name="evaluation-title-bar">
            <a:extLst xmlns:a="http://schemas.openxmlformats.org/drawingml/2006/main">
              <a:ext uri="{FF2B5EF4-FFF2-40B4-BE49-F238E27FC236}">
                <a16:creationId xmlns:a16="http://schemas.microsoft.com/office/drawing/2014/main" id="{2A1A7D06-1471-4A3F-9052-7D2051AB398E}"/>
              </a:ext>
            </a:extLst>
          </p:cNvPr>
          <p:cNvSpPr>
            <a:spLocks xmlns:a="http://schemas.openxmlformats.org/drawingml/2006/main" noGrp="1"/>
          </p:cNvSpPr>
          <p:nvPr/>
        </p:nvSpPr>
        <p:spPr>
          <a:xfrm xmlns:a="http://schemas.openxmlformats.org/drawingml/2006/main">
            <a:off x="1143000" y="28022550"/>
            <a:ext cx="95250" cy="400050"/>
          </a:xfrm>
          <a:prstGeom xmlns:a="http://schemas.openxmlformats.org/drawingml/2006/main" prst="rect">
            <a:avLst/>
          </a:prstGeom>
          <a:solidFill xmlns:a="http://schemas.openxmlformats.org/drawingml/2006/main">
            <a:srgbClr val="2D6CDF"/>
          </a:solidFill>
          <a:ln xmlns:a="http://schemas.openxmlformats.org/drawingml/2006/main" w="0">
            <a:noFill/>
            <a:prstDash val="solid"/>
          </a:ln>
        </p:spPr>
      </p:sp>
      <p:sp>
        <p:nvSpPr>
          <p:cNvPr id="69" name="evaluation-title">
            <a:extLst xmlns:a="http://schemas.openxmlformats.org/drawingml/2006/main">
              <a:ext uri="{FF2B5EF4-FFF2-40B4-BE49-F238E27FC236}">
                <a16:creationId xmlns:a16="http://schemas.microsoft.com/office/drawing/2014/main" id="{FA597A89-DA06-45D1-AFE1-4219A655F2D7}"/>
              </a:ext>
            </a:extLst>
          </p:cNvPr>
          <p:cNvSpPr>
            <a:spLocks xmlns:a="http://schemas.openxmlformats.org/drawingml/2006/main" noGrp="1"/>
          </p:cNvSpPr>
          <p:nvPr/>
        </p:nvSpPr>
        <p:spPr>
          <a:xfrm xmlns:a="http://schemas.openxmlformats.org/drawingml/2006/main">
            <a:off x="1409700" y="27955875"/>
            <a:ext cx="86010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02A43"/>
                </a:solidFill>
                <a:latin typeface="Arial"/>
                <a:ea typeface="Arial"/>
                <a:cs typeface="Arial"/>
              </a:defRPr>
            </a:pPr>
            <a:r>
              <a:rPr sz="3000" b="1">
                <a:solidFill>
                  <a:srgbClr val="102A43"/>
                </a:solidFill>
                <a:latin typeface="Arial"/>
                <a:ea typeface="Arial"/>
                <a:cs typeface="Arial"/>
              </a:rPr>
              <a:t>Diseño experimental</a:t>
            </a:r>
          </a:p>
        </p:txBody>
      </p:sp>
      <p:sp>
        <p:nvSpPr>
          <p:cNvPr id="70" name="evaluation-body">
            <a:extLst xmlns:a="http://schemas.openxmlformats.org/drawingml/2006/main">
              <a:ext uri="{FF2B5EF4-FFF2-40B4-BE49-F238E27FC236}">
                <a16:creationId xmlns:a16="http://schemas.microsoft.com/office/drawing/2014/main" id="{7FDC3BD0-90B0-4EFD-A075-914407C023A1}"/>
              </a:ext>
            </a:extLst>
          </p:cNvPr>
          <p:cNvSpPr>
            <a:spLocks xmlns:a="http://schemas.openxmlformats.org/drawingml/2006/main" noGrp="1"/>
          </p:cNvSpPr>
          <p:nvPr/>
        </p:nvSpPr>
        <p:spPr>
          <a:xfrm xmlns:a="http://schemas.openxmlformats.org/drawingml/2006/main">
            <a:off x="1143000" y="28717875"/>
            <a:ext cx="886777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102A43"/>
                </a:solidFill>
                <a:latin typeface="Arial"/>
                <a:ea typeface="Arial"/>
                <a:cs typeface="Arial"/>
              </a:defRPr>
            </a:pPr>
            <a:r>
              <a:rPr sz="2025" b="0">
                <a:solidFill>
                  <a:srgbClr val="102A43"/>
                </a:solidFill>
                <a:latin typeface="Arial"/>
                <a:ea typeface="Arial"/>
                <a:cs typeface="Arial"/>
              </a:rPr>
              <a:t>40 preguntas de referencia</a:t>
            </a:r>
          </a:p>
          <a:p xmlns:a="http://schemas.openxmlformats.org/drawingml/2006/main">
            <a:r>
              <a:t/>
            </a:r>
          </a:p>
          <a:p xmlns:a="http://schemas.openxmlformats.org/drawingml/2006/main">
            <a:pPr algn="l">
              <a:lnSpc>
                <a:spcPct val="104000"/>
              </a:lnSpc>
              <a:buNone/>
              <a:defRPr sz="2025" b="0">
                <a:solidFill>
                  <a:srgbClr val="102A43"/>
                </a:solidFill>
                <a:latin typeface="Arial"/>
                <a:ea typeface="Arial"/>
                <a:cs typeface="Arial"/>
              </a:defRPr>
            </a:pPr>
            <a:r>
              <a:rPr sz="2025" b="0">
                <a:solidFill>
                  <a:srgbClr val="102A43"/>
                </a:solidFill>
                <a:latin typeface="Arial"/>
                <a:ea typeface="Arial"/>
                <a:cs typeface="Arial"/>
              </a:rPr>
              <a:t>25 directas · 8 de varias secciones · 7 no respondibles</a:t>
            </a:r>
          </a:p>
          <a:p xmlns:a="http://schemas.openxmlformats.org/drawingml/2006/main">
            <a:r>
              <a:t/>
            </a:r>
          </a:p>
          <a:p xmlns:a="http://schemas.openxmlformats.org/drawingml/2006/main">
            <a:pPr algn="l">
              <a:lnSpc>
                <a:spcPct val="104000"/>
              </a:lnSpc>
              <a:buNone/>
              <a:defRPr sz="2025" b="0">
                <a:solidFill>
                  <a:srgbClr val="102A43"/>
                </a:solidFill>
                <a:latin typeface="Arial"/>
                <a:ea typeface="Arial"/>
                <a:cs typeface="Arial"/>
              </a:defRPr>
            </a:pPr>
            <a:r>
              <a:rPr sz="2025" b="0">
                <a:solidFill>
                  <a:srgbClr val="102A43"/>
                </a:solidFill>
                <a:latin typeface="Arial"/>
                <a:ea typeface="Arial"/>
                <a:cs typeface="Arial"/>
              </a:rPr>
              <a:t>Cada ejecución guardó fragmentos, respuesta, citas y tiempos. Las 40 respuestas se revisaron manualmente con seis criterios.</a:t>
            </a:r>
          </a:p>
        </p:txBody>
      </p:sp>
      <p:sp>
        <p:nvSpPr>
          <p:cNvPr id="71" name="human-rubric-title-bar">
            <a:extLst xmlns:a="http://schemas.openxmlformats.org/drawingml/2006/main">
              <a:ext uri="{FF2B5EF4-FFF2-40B4-BE49-F238E27FC236}">
                <a16:creationId xmlns:a16="http://schemas.microsoft.com/office/drawing/2014/main" id="{E7225713-58FF-4B7E-A0EC-682679E56ACF}"/>
              </a:ext>
            </a:extLst>
          </p:cNvPr>
          <p:cNvSpPr>
            <a:spLocks xmlns:a="http://schemas.openxmlformats.org/drawingml/2006/main" noGrp="1"/>
          </p:cNvSpPr>
          <p:nvPr/>
        </p:nvSpPr>
        <p:spPr>
          <a:xfrm xmlns:a="http://schemas.openxmlformats.org/drawingml/2006/main">
            <a:off x="1143000" y="32594550"/>
            <a:ext cx="95250" cy="4000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72" name="human-rubric-title">
            <a:extLst xmlns:a="http://schemas.openxmlformats.org/drawingml/2006/main">
              <a:ext uri="{FF2B5EF4-FFF2-40B4-BE49-F238E27FC236}">
                <a16:creationId xmlns:a16="http://schemas.microsoft.com/office/drawing/2014/main" id="{B4A06C83-F80F-4E7B-B89D-06B2DFD28C92}"/>
              </a:ext>
            </a:extLst>
          </p:cNvPr>
          <p:cNvSpPr>
            <a:spLocks xmlns:a="http://schemas.openxmlformats.org/drawingml/2006/main" noGrp="1"/>
          </p:cNvSpPr>
          <p:nvPr/>
        </p:nvSpPr>
        <p:spPr>
          <a:xfrm xmlns:a="http://schemas.openxmlformats.org/drawingml/2006/main">
            <a:off x="1409700" y="32527875"/>
            <a:ext cx="86010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02A43"/>
                </a:solidFill>
                <a:latin typeface="Arial"/>
                <a:ea typeface="Arial"/>
                <a:cs typeface="Arial"/>
              </a:defRPr>
            </a:pPr>
            <a:r>
              <a:rPr sz="3000" b="1">
                <a:solidFill>
                  <a:srgbClr val="102A43"/>
                </a:solidFill>
                <a:latin typeface="Arial"/>
                <a:ea typeface="Arial"/>
                <a:cs typeface="Arial"/>
              </a:rPr>
              <a:t>Revisión humana</a:t>
            </a:r>
          </a:p>
        </p:txBody>
      </p:sp>
      <p:sp>
        <p:nvSpPr>
          <p:cNvPr id="73" name="human-rubric-body">
            <a:extLst xmlns:a="http://schemas.openxmlformats.org/drawingml/2006/main">
              <a:ext uri="{FF2B5EF4-FFF2-40B4-BE49-F238E27FC236}">
                <a16:creationId xmlns:a16="http://schemas.microsoft.com/office/drawing/2014/main" id="{F4CDC069-9196-4646-BDD8-85D8685BDA56}"/>
              </a:ext>
            </a:extLst>
          </p:cNvPr>
          <p:cNvSpPr>
            <a:spLocks xmlns:a="http://schemas.openxmlformats.org/drawingml/2006/main" noGrp="1"/>
          </p:cNvSpPr>
          <p:nvPr/>
        </p:nvSpPr>
        <p:spPr>
          <a:xfrm xmlns:a="http://schemas.openxmlformats.org/drawingml/2006/main">
            <a:off x="1143000" y="33308925"/>
            <a:ext cx="4095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02A43"/>
                </a:solidFill>
                <a:latin typeface="Arial"/>
                <a:ea typeface="Arial"/>
                <a:cs typeface="Arial"/>
              </a:defRPr>
            </a:pPr>
            <a:r>
              <a:rPr sz="2025" b="0">
                <a:solidFill>
                  <a:srgbClr val="102A43"/>
                </a:solidFill>
                <a:latin typeface="Arial"/>
                <a:ea typeface="Arial"/>
                <a:cs typeface="Arial"/>
              </a:rPr>
              <a:t>- Corrección factual</a:t>
            </a:r>
          </a:p>
          <a:p xmlns:a="http://schemas.openxmlformats.org/drawingml/2006/main">
            <a:pPr algn="l">
              <a:lnSpc>
                <a:spcPct val="108000"/>
              </a:lnSpc>
              <a:buNone/>
              <a:defRPr sz="2025" b="0">
                <a:solidFill>
                  <a:srgbClr val="102A43"/>
                </a:solidFill>
                <a:latin typeface="Arial"/>
                <a:ea typeface="Arial"/>
                <a:cs typeface="Arial"/>
              </a:defRPr>
            </a:pPr>
            <a:r>
              <a:rPr sz="2025" b="0">
                <a:solidFill>
                  <a:srgbClr val="102A43"/>
                </a:solidFill>
                <a:latin typeface="Arial"/>
                <a:ea typeface="Arial"/>
                <a:cs typeface="Arial"/>
              </a:rPr>
              <a:t>- Cobertura</a:t>
            </a:r>
          </a:p>
          <a:p xmlns:a="http://schemas.openxmlformats.org/drawingml/2006/main">
            <a:pPr algn="l">
              <a:lnSpc>
                <a:spcPct val="108000"/>
              </a:lnSpc>
              <a:buNone/>
              <a:defRPr sz="2025" b="0">
                <a:solidFill>
                  <a:srgbClr val="102A43"/>
                </a:solidFill>
                <a:latin typeface="Arial"/>
                <a:ea typeface="Arial"/>
                <a:cs typeface="Arial"/>
              </a:defRPr>
            </a:pPr>
            <a:r>
              <a:rPr sz="2025" b="0">
                <a:solidFill>
                  <a:srgbClr val="102A43"/>
                </a:solidFill>
                <a:latin typeface="Arial"/>
                <a:ea typeface="Arial"/>
                <a:cs typeface="Arial"/>
              </a:rPr>
              <a:t>- Fidelidad a fuentes</a:t>
            </a:r>
          </a:p>
          <a:p xmlns:a="http://schemas.openxmlformats.org/drawingml/2006/main">
            <a:pPr algn="l">
              <a:lnSpc>
                <a:spcPct val="108000"/>
              </a:lnSpc>
              <a:buNone/>
              <a:defRPr sz="2025" b="0">
                <a:solidFill>
                  <a:srgbClr val="102A43"/>
                </a:solidFill>
                <a:latin typeface="Arial"/>
                <a:ea typeface="Arial"/>
                <a:cs typeface="Arial"/>
              </a:defRPr>
            </a:pPr>
            <a:r>
              <a:rPr sz="2025" b="0">
                <a:solidFill>
                  <a:srgbClr val="102A43"/>
                </a:solidFill>
                <a:latin typeface="Arial"/>
                <a:ea typeface="Arial"/>
                <a:cs typeface="Arial"/>
              </a:rPr>
              <a:t>- Claridad</a:t>
            </a:r>
          </a:p>
          <a:p xmlns:a="http://schemas.openxmlformats.org/drawingml/2006/main">
            <a:pPr algn="l">
              <a:lnSpc>
                <a:spcPct val="108000"/>
              </a:lnSpc>
              <a:buNone/>
              <a:defRPr sz="2025" b="0">
                <a:solidFill>
                  <a:srgbClr val="102A43"/>
                </a:solidFill>
                <a:latin typeface="Arial"/>
                <a:ea typeface="Arial"/>
                <a:cs typeface="Arial"/>
              </a:defRPr>
            </a:pPr>
            <a:r>
              <a:rPr sz="2025" b="0">
                <a:solidFill>
                  <a:srgbClr val="102A43"/>
                </a:solidFill>
                <a:latin typeface="Arial"/>
                <a:ea typeface="Arial"/>
                <a:cs typeface="Arial"/>
              </a:rPr>
              <a:t>- Evidencia gold</a:t>
            </a:r>
          </a:p>
          <a:p xmlns:a="http://schemas.openxmlformats.org/drawingml/2006/main">
            <a:pPr algn="l">
              <a:lnSpc>
                <a:spcPct val="108000"/>
              </a:lnSpc>
              <a:buNone/>
              <a:defRPr sz="2025" b="0">
                <a:solidFill>
                  <a:srgbClr val="102A43"/>
                </a:solidFill>
                <a:latin typeface="Arial"/>
                <a:ea typeface="Arial"/>
                <a:cs typeface="Arial"/>
              </a:defRPr>
            </a:pPr>
            <a:r>
              <a:rPr sz="2025" b="0">
                <a:solidFill>
                  <a:srgbClr val="102A43"/>
                </a:solidFill>
                <a:latin typeface="Arial"/>
                <a:ea typeface="Arial"/>
                <a:cs typeface="Arial"/>
              </a:rPr>
              <a:t>- Conclusión manual</a:t>
            </a:r>
          </a:p>
        </p:txBody>
      </p:sp>
      <p:sp>
        <p:nvSpPr>
          <p:cNvPr id="74" name="automatic-metrics-body">
            <a:extLst xmlns:a="http://schemas.openxmlformats.org/drawingml/2006/main">
              <a:ext uri="{FF2B5EF4-FFF2-40B4-BE49-F238E27FC236}">
                <a16:creationId xmlns:a16="http://schemas.microsoft.com/office/drawing/2014/main" id="{F30371C8-B1CC-4C1A-9EAB-638C6F30CE35}"/>
              </a:ext>
            </a:extLst>
          </p:cNvPr>
          <p:cNvSpPr>
            <a:spLocks xmlns:a="http://schemas.openxmlformats.org/drawingml/2006/main" noGrp="1"/>
          </p:cNvSpPr>
          <p:nvPr/>
        </p:nvSpPr>
        <p:spPr>
          <a:xfrm xmlns:a="http://schemas.openxmlformats.org/drawingml/2006/main">
            <a:off x="5572125" y="33308925"/>
            <a:ext cx="4438650" cy="2381250"/>
          </a:xfrm>
          <a:prstGeom xmlns:a="http://schemas.openxmlformats.org/drawingml/2006/main" prst="rect">
            <a:avLst/>
          </a:prstGeom>
          <a:solidFill xmlns:a="http://schemas.openxmlformats.org/drawingml/2006/main">
            <a:srgbClr val="EAF4FB"/>
          </a:solidFill>
          <a:ln xmlns:a="http://schemas.openxmlformats.org/drawingml/2006/main" w="9525">
            <a:solidFill>
              <a:srgbClr val="CBD2D9"/>
            </a:solidFill>
            <a:prstDash val="solid"/>
          </a:ln>
        </p:spPr>
        <p:txBody>
          <a:bodyPr xmlns:a="http://schemas.openxmlformats.org/drawingml/2006/main" wrap="square" lIns="209550" tIns="209550" rIns="209550" bIns="209550" anchor="ctr">
            <a:normAutofit fontScale="100000"/>
          </a:bodyPr>
          <a:lstStyle xmlns:a="http://schemas.openxmlformats.org/drawingml/2006/main"/>
          <a:p xmlns:a="http://schemas.openxmlformats.org/drawingml/2006/main">
            <a:pPr algn="l">
              <a:lnSpc>
                <a:spcPct val="105000"/>
              </a:lnSpc>
              <a:buNone/>
              <a:defRPr sz="1950" b="1">
                <a:solidFill>
                  <a:srgbClr val="1F4FA3"/>
                </a:solidFill>
                <a:latin typeface="Arial"/>
                <a:ea typeface="Arial"/>
                <a:cs typeface="Arial"/>
              </a:defRPr>
            </a:pPr>
            <a:r>
              <a:rPr sz="1950" b="1">
                <a:solidFill>
                  <a:srgbClr val="1F4FA3"/>
                </a:solidFill>
                <a:latin typeface="Arial"/>
                <a:ea typeface="Arial"/>
                <a:cs typeface="Arial"/>
              </a:rPr>
              <a:t>Las métricas automáticas describen recuperación, citas y latencia; no se presentan como exactitud factual.</a:t>
            </a:r>
          </a:p>
        </p:txBody>
      </p:sp>
      <p:sp>
        <p:nvSpPr>
          <p:cNvPr id="75" name="results-title-bar">
            <a:extLst xmlns:a="http://schemas.openxmlformats.org/drawingml/2006/main">
              <a:ext uri="{FF2B5EF4-FFF2-40B4-BE49-F238E27FC236}">
                <a16:creationId xmlns:a16="http://schemas.microsoft.com/office/drawing/2014/main" id="{3CAB2AE2-96E1-457D-BCBD-2C16AEAC8497}"/>
              </a:ext>
            </a:extLst>
          </p:cNvPr>
          <p:cNvSpPr>
            <a:spLocks xmlns:a="http://schemas.openxmlformats.org/drawingml/2006/main" noGrp="1"/>
          </p:cNvSpPr>
          <p:nvPr/>
        </p:nvSpPr>
        <p:spPr>
          <a:xfrm xmlns:a="http://schemas.openxmlformats.org/drawingml/2006/main">
            <a:off x="10696575" y="17449800"/>
            <a:ext cx="95250" cy="400050"/>
          </a:xfrm>
          <a:prstGeom xmlns:a="http://schemas.openxmlformats.org/drawingml/2006/main" prst="rect">
            <a:avLst/>
          </a:prstGeom>
          <a:solidFill xmlns:a="http://schemas.openxmlformats.org/drawingml/2006/main">
            <a:srgbClr val="2D6CDF"/>
          </a:solidFill>
          <a:ln xmlns:a="http://schemas.openxmlformats.org/drawingml/2006/main" w="0">
            <a:noFill/>
            <a:prstDash val="solid"/>
          </a:ln>
        </p:spPr>
      </p:sp>
      <p:sp>
        <p:nvSpPr>
          <p:cNvPr id="76" name="results-title">
            <a:extLst xmlns:a="http://schemas.openxmlformats.org/drawingml/2006/main">
              <a:ext uri="{FF2B5EF4-FFF2-40B4-BE49-F238E27FC236}">
                <a16:creationId xmlns:a16="http://schemas.microsoft.com/office/drawing/2014/main" id="{DB372289-2C95-4EA5-A515-A490BD5935FE}"/>
              </a:ext>
            </a:extLst>
          </p:cNvPr>
          <p:cNvSpPr>
            <a:spLocks xmlns:a="http://schemas.openxmlformats.org/drawingml/2006/main" noGrp="1"/>
          </p:cNvSpPr>
          <p:nvPr/>
        </p:nvSpPr>
        <p:spPr>
          <a:xfrm xmlns:a="http://schemas.openxmlformats.org/drawingml/2006/main">
            <a:off x="10963275" y="17383125"/>
            <a:ext cx="86010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02A43"/>
                </a:solidFill>
                <a:latin typeface="Arial"/>
                <a:ea typeface="Arial"/>
                <a:cs typeface="Arial"/>
              </a:defRPr>
            </a:pPr>
            <a:r>
              <a:rPr sz="3000" b="1">
                <a:solidFill>
                  <a:srgbClr val="102A43"/>
                </a:solidFill>
                <a:latin typeface="Arial"/>
                <a:ea typeface="Arial"/>
                <a:cs typeface="Arial"/>
              </a:rPr>
              <a:t>Resultados</a:t>
            </a:r>
          </a:p>
        </p:txBody>
      </p:sp>
      <p:sp>
        <p:nvSpPr>
          <p:cNvPr id="77" name="results-intro">
            <a:extLst xmlns:a="http://schemas.openxmlformats.org/drawingml/2006/main">
              <a:ext uri="{FF2B5EF4-FFF2-40B4-BE49-F238E27FC236}">
                <a16:creationId xmlns:a16="http://schemas.microsoft.com/office/drawing/2014/main" id="{D6D8483D-50A4-4A6C-A1CF-7B1CC8A58D89}"/>
              </a:ext>
            </a:extLst>
          </p:cNvPr>
          <p:cNvSpPr>
            <a:spLocks xmlns:a="http://schemas.openxmlformats.org/drawingml/2006/main" noGrp="1"/>
          </p:cNvSpPr>
          <p:nvPr/>
        </p:nvSpPr>
        <p:spPr>
          <a:xfrm xmlns:a="http://schemas.openxmlformats.org/drawingml/2006/main">
            <a:off x="10696575" y="18087975"/>
            <a:ext cx="88677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875" b="0">
                <a:solidFill>
                  <a:srgbClr val="52606D"/>
                </a:solidFill>
                <a:latin typeface="Arial"/>
                <a:ea typeface="Arial"/>
                <a:cs typeface="Arial"/>
              </a:defRPr>
            </a:pPr>
            <a:r>
              <a:rPr sz="1875" b="0">
                <a:solidFill>
                  <a:srgbClr val="52606D"/>
                </a:solidFill>
                <a:latin typeface="Arial"/>
                <a:ea typeface="Arial"/>
                <a:cs typeface="Arial"/>
              </a:rPr>
              <a:t>La evaluación humana permite distinguir contenido correcto, cobertura y calidad de la salida.</a:t>
            </a:r>
          </a:p>
        </p:txBody>
      </p:sp>
      <p:sp>
        <p:nvSpPr>
          <p:cNvPr id="78" name="strict-value">
            <a:extLst xmlns:a="http://schemas.openxmlformats.org/drawingml/2006/main">
              <a:ext uri="{FF2B5EF4-FFF2-40B4-BE49-F238E27FC236}">
                <a16:creationId xmlns:a16="http://schemas.microsoft.com/office/drawing/2014/main" id="{EF4EB024-06B9-4104-AB7B-92995F91CD9C}"/>
              </a:ext>
            </a:extLst>
          </p:cNvPr>
          <p:cNvSpPr>
            <a:spLocks xmlns:a="http://schemas.openxmlformats.org/drawingml/2006/main" noGrp="1"/>
          </p:cNvSpPr>
          <p:nvPr/>
        </p:nvSpPr>
        <p:spPr>
          <a:xfrm xmlns:a="http://schemas.openxmlformats.org/drawingml/2006/main">
            <a:off x="10696575" y="19097625"/>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lnSpc>
                <a:spcPct val="100000"/>
              </a:lnSpc>
              <a:buNone/>
              <a:defRPr sz="5250" b="1">
                <a:solidFill>
                  <a:srgbClr val="2D6CDF"/>
                </a:solidFill>
                <a:latin typeface="Arial"/>
                <a:ea typeface="Arial"/>
                <a:cs typeface="Arial"/>
              </a:defRPr>
            </a:pPr>
            <a:r>
              <a:rPr sz="5250" b="1">
                <a:solidFill>
                  <a:srgbClr val="2D6CDF"/>
                </a:solidFill>
                <a:latin typeface="Arial"/>
                <a:ea typeface="Arial"/>
                <a:cs typeface="Arial"/>
              </a:rPr>
              <a:t>78,8 %</a:t>
            </a:r>
          </a:p>
        </p:txBody>
      </p:sp>
      <p:sp>
        <p:nvSpPr>
          <p:cNvPr id="79" name="strict-label">
            <a:extLst xmlns:a="http://schemas.openxmlformats.org/drawingml/2006/main">
              <a:ext uri="{FF2B5EF4-FFF2-40B4-BE49-F238E27FC236}">
                <a16:creationId xmlns:a16="http://schemas.microsoft.com/office/drawing/2014/main" id="{38D5C052-52F9-4B43-A5FA-4EC31DBE72C6}"/>
              </a:ext>
            </a:extLst>
          </p:cNvPr>
          <p:cNvSpPr>
            <a:spLocks xmlns:a="http://schemas.openxmlformats.org/drawingml/2006/main" noGrp="1"/>
          </p:cNvSpPr>
          <p:nvPr/>
        </p:nvSpPr>
        <p:spPr>
          <a:xfrm xmlns:a="http://schemas.openxmlformats.org/drawingml/2006/main">
            <a:off x="10696575" y="20031075"/>
            <a:ext cx="4000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02A43"/>
                </a:solidFill>
                <a:latin typeface="Arial"/>
                <a:ea typeface="Arial"/>
                <a:cs typeface="Arial"/>
              </a:defRPr>
            </a:pPr>
            <a:r>
              <a:rPr sz="1875" b="1">
                <a:solidFill>
                  <a:srgbClr val="102A43"/>
                </a:solidFill>
                <a:latin typeface="Arial"/>
                <a:ea typeface="Arial"/>
                <a:cs typeface="Arial"/>
              </a:rPr>
              <a:t>corrección factual estricta</a:t>
            </a:r>
          </a:p>
        </p:txBody>
      </p:sp>
      <p:sp>
        <p:nvSpPr>
          <p:cNvPr id="80" name="faith-value">
            <a:extLst xmlns:a="http://schemas.openxmlformats.org/drawingml/2006/main">
              <a:ext uri="{FF2B5EF4-FFF2-40B4-BE49-F238E27FC236}">
                <a16:creationId xmlns:a16="http://schemas.microsoft.com/office/drawing/2014/main" id="{17DB76C2-03BC-4057-A578-FBCD2224D4E3}"/>
              </a:ext>
            </a:extLst>
          </p:cNvPr>
          <p:cNvSpPr>
            <a:spLocks xmlns:a="http://schemas.openxmlformats.org/drawingml/2006/main" noGrp="1"/>
          </p:cNvSpPr>
          <p:nvPr/>
        </p:nvSpPr>
        <p:spPr>
          <a:xfrm xmlns:a="http://schemas.openxmlformats.org/drawingml/2006/main">
            <a:off x="15459075" y="19097625"/>
            <a:ext cx="41052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lnSpc>
                <a:spcPct val="100000"/>
              </a:lnSpc>
              <a:buNone/>
              <a:defRPr sz="5250" b="1">
                <a:solidFill>
                  <a:srgbClr val="0F766E"/>
                </a:solidFill>
                <a:latin typeface="Arial"/>
                <a:ea typeface="Arial"/>
                <a:cs typeface="Arial"/>
              </a:defRPr>
            </a:pPr>
            <a:r>
              <a:rPr sz="5250" b="1">
                <a:solidFill>
                  <a:srgbClr val="0F766E"/>
                </a:solidFill>
                <a:latin typeface="Arial"/>
                <a:ea typeface="Arial"/>
                <a:cs typeface="Arial"/>
              </a:rPr>
              <a:t>93,5 %</a:t>
            </a:r>
          </a:p>
        </p:txBody>
      </p:sp>
      <p:sp>
        <p:nvSpPr>
          <p:cNvPr id="81" name="faith-label">
            <a:extLst xmlns:a="http://schemas.openxmlformats.org/drawingml/2006/main">
              <a:ext uri="{FF2B5EF4-FFF2-40B4-BE49-F238E27FC236}">
                <a16:creationId xmlns:a16="http://schemas.microsoft.com/office/drawing/2014/main" id="{2EFDAC08-294D-4786-9528-25D71C874877}"/>
              </a:ext>
            </a:extLst>
          </p:cNvPr>
          <p:cNvSpPr>
            <a:spLocks xmlns:a="http://schemas.openxmlformats.org/drawingml/2006/main" noGrp="1"/>
          </p:cNvSpPr>
          <p:nvPr/>
        </p:nvSpPr>
        <p:spPr>
          <a:xfrm xmlns:a="http://schemas.openxmlformats.org/drawingml/2006/main">
            <a:off x="15459075" y="20031075"/>
            <a:ext cx="41052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02A43"/>
                </a:solidFill>
                <a:latin typeface="Arial"/>
                <a:ea typeface="Arial"/>
                <a:cs typeface="Arial"/>
              </a:defRPr>
            </a:pPr>
            <a:r>
              <a:rPr sz="1875" b="1">
                <a:solidFill>
                  <a:srgbClr val="102A43"/>
                </a:solidFill>
                <a:latin typeface="Arial"/>
                <a:ea typeface="Arial"/>
                <a:cs typeface="Arial"/>
              </a:rPr>
              <a:t>fidelidad total a fuentes</a:t>
            </a:r>
          </a:p>
        </p:txBody>
      </p:sp>
      <p:sp>
        <p:nvSpPr>
          <p:cNvPr id="82" name="metric-rule-1">
            <a:extLst xmlns:a="http://schemas.openxmlformats.org/drawingml/2006/main">
              <a:ext uri="{FF2B5EF4-FFF2-40B4-BE49-F238E27FC236}">
                <a16:creationId xmlns:a16="http://schemas.microsoft.com/office/drawing/2014/main" id="{0327D2FF-83C8-43D3-BC68-FF7C11FC17EA}"/>
              </a:ext>
            </a:extLst>
          </p:cNvPr>
          <p:cNvSpPr>
            <a:spLocks xmlns:a="http://schemas.openxmlformats.org/drawingml/2006/main" noGrp="1"/>
          </p:cNvSpPr>
          <p:nvPr/>
        </p:nvSpPr>
        <p:spPr>
          <a:xfrm xmlns:a="http://schemas.openxmlformats.org/drawingml/2006/main">
            <a:off x="10696575" y="21050250"/>
            <a:ext cx="8867775" cy="19050"/>
          </a:xfrm>
          <a:prstGeom xmlns:a="http://schemas.openxmlformats.org/drawingml/2006/main" prst="rect">
            <a:avLst/>
          </a:prstGeom>
          <a:solidFill xmlns:a="http://schemas.openxmlformats.org/drawingml/2006/main">
            <a:srgbClr val="CBD2D9"/>
          </a:solidFill>
          <a:ln xmlns:a="http://schemas.openxmlformats.org/drawingml/2006/main" w="0">
            <a:noFill/>
            <a:prstDash val="solid"/>
          </a:ln>
        </p:spPr>
      </p:sp>
      <p:sp>
        <p:nvSpPr>
          <p:cNvPr id="83" name="coverage-value">
            <a:extLst xmlns:a="http://schemas.openxmlformats.org/drawingml/2006/main">
              <a:ext uri="{FF2B5EF4-FFF2-40B4-BE49-F238E27FC236}">
                <a16:creationId xmlns:a16="http://schemas.microsoft.com/office/drawing/2014/main" id="{75F0F857-6767-49C2-AC88-097BDC4509FA}"/>
              </a:ext>
            </a:extLst>
          </p:cNvPr>
          <p:cNvSpPr>
            <a:spLocks xmlns:a="http://schemas.openxmlformats.org/drawingml/2006/main" noGrp="1"/>
          </p:cNvSpPr>
          <p:nvPr/>
        </p:nvSpPr>
        <p:spPr>
          <a:xfrm xmlns:a="http://schemas.openxmlformats.org/drawingml/2006/main">
            <a:off x="10696575" y="21383625"/>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lnSpc>
                <a:spcPct val="100000"/>
              </a:lnSpc>
              <a:buNone/>
              <a:defRPr sz="5250" b="1">
                <a:solidFill>
                  <a:srgbClr val="2D6CDF"/>
                </a:solidFill>
                <a:latin typeface="Arial"/>
                <a:ea typeface="Arial"/>
                <a:cs typeface="Arial"/>
              </a:defRPr>
            </a:pPr>
            <a:r>
              <a:rPr sz="5250" b="1">
                <a:solidFill>
                  <a:srgbClr val="2D6CDF"/>
                </a:solidFill>
                <a:latin typeface="Arial"/>
                <a:ea typeface="Arial"/>
                <a:cs typeface="Arial"/>
              </a:rPr>
              <a:t>72,7 %</a:t>
            </a:r>
          </a:p>
        </p:txBody>
      </p:sp>
      <p:sp>
        <p:nvSpPr>
          <p:cNvPr id="84" name="coverage-label">
            <a:extLst xmlns:a="http://schemas.openxmlformats.org/drawingml/2006/main">
              <a:ext uri="{FF2B5EF4-FFF2-40B4-BE49-F238E27FC236}">
                <a16:creationId xmlns:a16="http://schemas.microsoft.com/office/drawing/2014/main" id="{F4A24FD2-B211-43F8-BC12-5A887907E0D0}"/>
              </a:ext>
            </a:extLst>
          </p:cNvPr>
          <p:cNvSpPr>
            <a:spLocks xmlns:a="http://schemas.openxmlformats.org/drawingml/2006/main" noGrp="1"/>
          </p:cNvSpPr>
          <p:nvPr/>
        </p:nvSpPr>
        <p:spPr>
          <a:xfrm xmlns:a="http://schemas.openxmlformats.org/drawingml/2006/main">
            <a:off x="10696575" y="22317075"/>
            <a:ext cx="4000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02A43"/>
                </a:solidFill>
                <a:latin typeface="Arial"/>
                <a:ea typeface="Arial"/>
                <a:cs typeface="Arial"/>
              </a:defRPr>
            </a:pPr>
            <a:r>
              <a:rPr sz="1875" b="1">
                <a:solidFill>
                  <a:srgbClr val="102A43"/>
                </a:solidFill>
                <a:latin typeface="Arial"/>
                <a:ea typeface="Arial"/>
                <a:cs typeface="Arial"/>
              </a:rPr>
              <a:t>cobertura completa</a:t>
            </a:r>
          </a:p>
        </p:txBody>
      </p:sp>
      <p:sp>
        <p:nvSpPr>
          <p:cNvPr id="85" name="abstention-value">
            <a:extLst xmlns:a="http://schemas.openxmlformats.org/drawingml/2006/main">
              <a:ext uri="{FF2B5EF4-FFF2-40B4-BE49-F238E27FC236}">
                <a16:creationId xmlns:a16="http://schemas.microsoft.com/office/drawing/2014/main" id="{C97E8A4C-2331-4767-B0ED-940922F10341}"/>
              </a:ext>
            </a:extLst>
          </p:cNvPr>
          <p:cNvSpPr>
            <a:spLocks xmlns:a="http://schemas.openxmlformats.org/drawingml/2006/main" noGrp="1"/>
          </p:cNvSpPr>
          <p:nvPr/>
        </p:nvSpPr>
        <p:spPr>
          <a:xfrm xmlns:a="http://schemas.openxmlformats.org/drawingml/2006/main">
            <a:off x="15459075" y="21383625"/>
            <a:ext cx="41052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lnSpc>
                <a:spcPct val="100000"/>
              </a:lnSpc>
              <a:buNone/>
              <a:defRPr sz="5250" b="1">
                <a:solidFill>
                  <a:srgbClr val="2F855A"/>
                </a:solidFill>
                <a:latin typeface="Arial"/>
                <a:ea typeface="Arial"/>
                <a:cs typeface="Arial"/>
              </a:defRPr>
            </a:pPr>
            <a:r>
              <a:rPr sz="5250" b="1">
                <a:solidFill>
                  <a:srgbClr val="2F855A"/>
                </a:solidFill>
                <a:latin typeface="Arial"/>
                <a:ea typeface="Arial"/>
                <a:cs typeface="Arial"/>
              </a:rPr>
              <a:t>7 / 7</a:t>
            </a:r>
          </a:p>
        </p:txBody>
      </p:sp>
      <p:sp>
        <p:nvSpPr>
          <p:cNvPr id="86" name="abstention-label">
            <a:extLst xmlns:a="http://schemas.openxmlformats.org/drawingml/2006/main">
              <a:ext uri="{FF2B5EF4-FFF2-40B4-BE49-F238E27FC236}">
                <a16:creationId xmlns:a16="http://schemas.microsoft.com/office/drawing/2014/main" id="{1CC00343-29D3-43F1-9B62-CEE56403066C}"/>
              </a:ext>
            </a:extLst>
          </p:cNvPr>
          <p:cNvSpPr>
            <a:spLocks xmlns:a="http://schemas.openxmlformats.org/drawingml/2006/main" noGrp="1"/>
          </p:cNvSpPr>
          <p:nvPr/>
        </p:nvSpPr>
        <p:spPr>
          <a:xfrm xmlns:a="http://schemas.openxmlformats.org/drawingml/2006/main">
            <a:off x="15459075" y="22317075"/>
            <a:ext cx="41052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02A43"/>
                </a:solidFill>
                <a:latin typeface="Arial"/>
                <a:ea typeface="Arial"/>
                <a:cs typeface="Arial"/>
              </a:defRPr>
            </a:pPr>
            <a:r>
              <a:rPr sz="1875" b="1">
                <a:solidFill>
                  <a:srgbClr val="102A43"/>
                </a:solidFill>
                <a:latin typeface="Arial"/>
                <a:ea typeface="Arial"/>
                <a:cs typeface="Arial"/>
              </a:rPr>
              <a:t>abstenciones correctas</a:t>
            </a:r>
          </a:p>
        </p:txBody>
      </p:sp>
      <p:sp>
        <p:nvSpPr>
          <p:cNvPr id="87" name="by-type-title-bar">
            <a:extLst xmlns:a="http://schemas.openxmlformats.org/drawingml/2006/main">
              <a:ext uri="{FF2B5EF4-FFF2-40B4-BE49-F238E27FC236}">
                <a16:creationId xmlns:a16="http://schemas.microsoft.com/office/drawing/2014/main" id="{0255C72B-A001-449C-9C73-B85B1C76A0EF}"/>
              </a:ext>
            </a:extLst>
          </p:cNvPr>
          <p:cNvSpPr>
            <a:spLocks xmlns:a="http://schemas.openxmlformats.org/drawingml/2006/main" noGrp="1"/>
          </p:cNvSpPr>
          <p:nvPr/>
        </p:nvSpPr>
        <p:spPr>
          <a:xfrm xmlns:a="http://schemas.openxmlformats.org/drawingml/2006/main">
            <a:off x="10696575" y="23641050"/>
            <a:ext cx="95250" cy="4000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88" name="by-type-title">
            <a:extLst xmlns:a="http://schemas.openxmlformats.org/drawingml/2006/main">
              <a:ext uri="{FF2B5EF4-FFF2-40B4-BE49-F238E27FC236}">
                <a16:creationId xmlns:a16="http://schemas.microsoft.com/office/drawing/2014/main" id="{8C0708D2-D6A3-4D41-99D8-589313D036CA}"/>
              </a:ext>
            </a:extLst>
          </p:cNvPr>
          <p:cNvSpPr>
            <a:spLocks xmlns:a="http://schemas.openxmlformats.org/drawingml/2006/main" noGrp="1"/>
          </p:cNvSpPr>
          <p:nvPr/>
        </p:nvSpPr>
        <p:spPr>
          <a:xfrm xmlns:a="http://schemas.openxmlformats.org/drawingml/2006/main">
            <a:off x="10963275" y="23574375"/>
            <a:ext cx="86010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02A43"/>
                </a:solidFill>
                <a:latin typeface="Arial"/>
                <a:ea typeface="Arial"/>
                <a:cs typeface="Arial"/>
              </a:defRPr>
            </a:pPr>
            <a:r>
              <a:rPr sz="3000" b="1">
                <a:solidFill>
                  <a:srgbClr val="102A43"/>
                </a:solidFill>
                <a:latin typeface="Arial"/>
                <a:ea typeface="Arial"/>
                <a:cs typeface="Arial"/>
              </a:rPr>
              <a:t>Aprobación por tipo de pregunta</a:t>
            </a:r>
          </a:p>
        </p:txBody>
      </p:sp>
      <p:graphicFrame>
        <p:nvGraphicFramePr>
          <p:cNvPr id="211" name="Chart"/>
          <p:cNvGraphicFramePr/>
          <p:nvPr/>
        </p:nvGraphicFramePr>
        <p:xfrm>
          <a:off xmlns:a="http://schemas.openxmlformats.org/drawingml/2006/main" x="10696575" y="24384000"/>
          <a:ext xmlns:a="http://schemas.openxmlformats.org/drawingml/2006/main" cx="8867775" cy="5810250"/>
        </p:xfrm>
        <a:graphic xmlns:a="http://schemas.openxmlformats.org/drawingml/2006/main">
          <a:graphicData uri="http://schemas.openxmlformats.org/drawingml/2006/chart">
            <c:chart xmlns:r="http://schemas.openxmlformats.org/officeDocument/2006/relationships" xmlns:c="http://schemas.openxmlformats.org/drawingml/2006/chart" r:id="R6a3d196917904655"/>
          </a:graphicData>
        </a:graphic>
      </p:graphicFrame>
      <p:sp>
        <p:nvSpPr>
          <p:cNvPr id="90" name="chart-takeaway">
            <a:extLst xmlns:a="http://schemas.openxmlformats.org/drawingml/2006/main">
              <a:ext uri="{FF2B5EF4-FFF2-40B4-BE49-F238E27FC236}">
                <a16:creationId xmlns:a16="http://schemas.microsoft.com/office/drawing/2014/main" id="{13BC1156-D66E-4325-90CF-F9743E8BFAFD}"/>
              </a:ext>
            </a:extLst>
          </p:cNvPr>
          <p:cNvSpPr>
            <a:spLocks xmlns:a="http://schemas.openxmlformats.org/drawingml/2006/main" noGrp="1"/>
          </p:cNvSpPr>
          <p:nvPr/>
        </p:nvSpPr>
        <p:spPr>
          <a:xfrm xmlns:a="http://schemas.openxmlformats.org/drawingml/2006/main">
            <a:off x="10696575" y="30384750"/>
            <a:ext cx="8867775" cy="1476375"/>
          </a:xfrm>
          <a:prstGeom xmlns:a="http://schemas.openxmlformats.org/drawingml/2006/main" prst="rect">
            <a:avLst/>
          </a:prstGeom>
          <a:solidFill xmlns:a="http://schemas.openxmlformats.org/drawingml/2006/main">
            <a:srgbClr val="E6F4F1"/>
          </a:solidFill>
          <a:ln xmlns:a="http://schemas.openxmlformats.org/drawingml/2006/main" w="0">
            <a:noFill/>
            <a:prstDash val="solid"/>
          </a:ln>
        </p:spPr>
        <p:txBody>
          <a:bodyPr xmlns:a="http://schemas.openxmlformats.org/drawingml/2006/main" wrap="square" lIns="247650" tIns="228600" rIns="247650" bIns="228600" anchor="ctr">
            <a:normAutofit fontScale="100000"/>
          </a:bodyPr>
          <a:lstStyle xmlns:a="http://schemas.openxmlformats.org/drawingml/2006/main"/>
          <a:p xmlns:a="http://schemas.openxmlformats.org/drawingml/2006/main">
            <a:pPr algn="l">
              <a:lnSpc>
                <a:spcPct val="103000"/>
              </a:lnSpc>
              <a:buNone/>
              <a:defRPr sz="2100" b="1">
                <a:solidFill>
                  <a:srgbClr val="0B5F58"/>
                </a:solidFill>
                <a:latin typeface="Arial"/>
                <a:ea typeface="Arial"/>
                <a:cs typeface="Arial"/>
              </a:defRPr>
            </a:pPr>
            <a:r>
              <a:rPr sz="2100" b="1">
                <a:solidFill>
                  <a:srgbClr val="0B5F58"/>
                </a:solidFill>
                <a:latin typeface="Arial"/>
                <a:ea typeface="Arial"/>
                <a:cs typeface="Arial"/>
              </a:rPr>
              <a:t>Hallazgo central: el sistema se abstiene bien, pero pierde cobertura cuando debe combinar evidencia distribuida.</a:t>
            </a:r>
          </a:p>
        </p:txBody>
      </p:sp>
      <p:sp>
        <p:nvSpPr>
          <p:cNvPr id="91" name="automatic-title-bar">
            <a:extLst xmlns:a="http://schemas.openxmlformats.org/drawingml/2006/main">
              <a:ext uri="{FF2B5EF4-FFF2-40B4-BE49-F238E27FC236}">
                <a16:creationId xmlns:a16="http://schemas.microsoft.com/office/drawing/2014/main" id="{A86255A3-9190-4FF7-B3E8-161FBDFA8BE5}"/>
              </a:ext>
            </a:extLst>
          </p:cNvPr>
          <p:cNvSpPr>
            <a:spLocks xmlns:a="http://schemas.openxmlformats.org/drawingml/2006/main" noGrp="1"/>
          </p:cNvSpPr>
          <p:nvPr/>
        </p:nvSpPr>
        <p:spPr>
          <a:xfrm xmlns:a="http://schemas.openxmlformats.org/drawingml/2006/main">
            <a:off x="10696575" y="32404050"/>
            <a:ext cx="95250" cy="400050"/>
          </a:xfrm>
          <a:prstGeom xmlns:a="http://schemas.openxmlformats.org/drawingml/2006/main" prst="rect">
            <a:avLst/>
          </a:prstGeom>
          <a:solidFill xmlns:a="http://schemas.openxmlformats.org/drawingml/2006/main">
            <a:srgbClr val="2D6CDF"/>
          </a:solidFill>
          <a:ln xmlns:a="http://schemas.openxmlformats.org/drawingml/2006/main" w="0">
            <a:noFill/>
            <a:prstDash val="solid"/>
          </a:ln>
        </p:spPr>
      </p:sp>
      <p:sp>
        <p:nvSpPr>
          <p:cNvPr id="92" name="automatic-title">
            <a:extLst xmlns:a="http://schemas.openxmlformats.org/drawingml/2006/main">
              <a:ext uri="{FF2B5EF4-FFF2-40B4-BE49-F238E27FC236}">
                <a16:creationId xmlns:a16="http://schemas.microsoft.com/office/drawing/2014/main" id="{8FE8CD3C-F8C8-4C77-AE85-F3175563F625}"/>
              </a:ext>
            </a:extLst>
          </p:cNvPr>
          <p:cNvSpPr>
            <a:spLocks xmlns:a="http://schemas.openxmlformats.org/drawingml/2006/main" noGrp="1"/>
          </p:cNvSpPr>
          <p:nvPr/>
        </p:nvSpPr>
        <p:spPr>
          <a:xfrm xmlns:a="http://schemas.openxmlformats.org/drawingml/2006/main">
            <a:off x="10963275" y="32337375"/>
            <a:ext cx="86010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02A43"/>
                </a:solidFill>
                <a:latin typeface="Arial"/>
                <a:ea typeface="Arial"/>
                <a:cs typeface="Arial"/>
              </a:defRPr>
            </a:pPr>
            <a:r>
              <a:rPr sz="3000" b="1">
                <a:solidFill>
                  <a:srgbClr val="102A43"/>
                </a:solidFill>
                <a:latin typeface="Arial"/>
                <a:ea typeface="Arial"/>
                <a:cs typeface="Arial"/>
              </a:rPr>
              <a:t>Rendimiento automático</a:t>
            </a:r>
          </a:p>
        </p:txBody>
      </p:sp>
      <p:sp>
        <p:nvSpPr>
          <p:cNvPr id="93" name="automatic-values">
            <a:extLst xmlns:a="http://schemas.openxmlformats.org/drawingml/2006/main">
              <a:ext uri="{FF2B5EF4-FFF2-40B4-BE49-F238E27FC236}">
                <a16:creationId xmlns:a16="http://schemas.microsoft.com/office/drawing/2014/main" id="{EC1C1454-30C6-488E-A0F6-DCAD53A972EB}"/>
              </a:ext>
            </a:extLst>
          </p:cNvPr>
          <p:cNvSpPr>
            <a:spLocks xmlns:a="http://schemas.openxmlformats.org/drawingml/2006/main" noGrp="1"/>
          </p:cNvSpPr>
          <p:nvPr/>
        </p:nvSpPr>
        <p:spPr>
          <a:xfrm xmlns:a="http://schemas.openxmlformats.org/drawingml/2006/main">
            <a:off x="10696575" y="33099375"/>
            <a:ext cx="4000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a:solidFill>
                  <a:srgbClr val="1F4FA3"/>
                </a:solidFill>
                <a:latin typeface="Arial"/>
                <a:ea typeface="Arial"/>
                <a:cs typeface="Arial"/>
              </a:defRPr>
            </a:pPr>
            <a:r>
              <a:rPr sz="2175" b="1">
                <a:solidFill>
                  <a:srgbClr val="1F4FA3"/>
                </a:solidFill>
                <a:latin typeface="Arial"/>
                <a:ea typeface="Arial"/>
                <a:cs typeface="Arial"/>
              </a:rPr>
              <a:t>93,9 %</a:t>
            </a:r>
          </a:p>
          <a:p xmlns:a="http://schemas.openxmlformats.org/drawingml/2006/main">
            <a:pPr algn="l">
              <a:lnSpc>
                <a:spcPct val="100000"/>
              </a:lnSpc>
              <a:buNone/>
              <a:defRPr sz="2175" b="1">
                <a:solidFill>
                  <a:srgbClr val="1F4FA3"/>
                </a:solidFill>
                <a:latin typeface="Arial"/>
                <a:ea typeface="Arial"/>
                <a:cs typeface="Arial"/>
              </a:defRPr>
            </a:pPr>
            <a:r>
              <a:rPr sz="2175" b="1">
                <a:solidFill>
                  <a:srgbClr val="1F4FA3"/>
                </a:solidFill>
                <a:latin typeface="Arial"/>
                <a:ea typeface="Arial"/>
                <a:cs typeface="Arial"/>
              </a:rPr>
              <a:t>recuperación con evidencia gold en top-5</a:t>
            </a:r>
          </a:p>
        </p:txBody>
      </p:sp>
      <p:sp>
        <p:nvSpPr>
          <p:cNvPr id="94" name="latency-values">
            <a:extLst xmlns:a="http://schemas.openxmlformats.org/drawingml/2006/main">
              <a:ext uri="{FF2B5EF4-FFF2-40B4-BE49-F238E27FC236}">
                <a16:creationId xmlns:a16="http://schemas.microsoft.com/office/drawing/2014/main" id="{EFA78E05-AA48-4AB7-9A40-E1B243216104}"/>
              </a:ext>
            </a:extLst>
          </p:cNvPr>
          <p:cNvSpPr>
            <a:spLocks xmlns:a="http://schemas.openxmlformats.org/drawingml/2006/main" noGrp="1"/>
          </p:cNvSpPr>
          <p:nvPr/>
        </p:nvSpPr>
        <p:spPr>
          <a:xfrm xmlns:a="http://schemas.openxmlformats.org/drawingml/2006/main">
            <a:off x="15459075" y="33099375"/>
            <a:ext cx="410527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a:solidFill>
                  <a:srgbClr val="1F4FA3"/>
                </a:solidFill>
                <a:latin typeface="Arial"/>
                <a:ea typeface="Arial"/>
                <a:cs typeface="Arial"/>
              </a:defRPr>
            </a:pPr>
            <a:r>
              <a:rPr sz="2175" b="1">
                <a:solidFill>
                  <a:srgbClr val="1F4FA3"/>
                </a:solidFill>
                <a:latin typeface="Arial"/>
                <a:ea typeface="Arial"/>
                <a:cs typeface="Arial"/>
              </a:rPr>
              <a:t>27 ms</a:t>
            </a:r>
          </a:p>
          <a:p xmlns:a="http://schemas.openxmlformats.org/drawingml/2006/main">
            <a:pPr algn="l">
              <a:lnSpc>
                <a:spcPct val="100000"/>
              </a:lnSpc>
              <a:buNone/>
              <a:defRPr sz="2175" b="1">
                <a:solidFill>
                  <a:srgbClr val="1F4FA3"/>
                </a:solidFill>
                <a:latin typeface="Arial"/>
                <a:ea typeface="Arial"/>
                <a:cs typeface="Arial"/>
              </a:defRPr>
            </a:pPr>
            <a:r>
              <a:rPr sz="2175" b="1">
                <a:solidFill>
                  <a:srgbClr val="1F4FA3"/>
                </a:solidFill>
                <a:latin typeface="Arial"/>
                <a:ea typeface="Arial"/>
                <a:cs typeface="Arial"/>
              </a:rPr>
              <a:t>búsqueda semántica promedio</a:t>
            </a:r>
          </a:p>
        </p:txBody>
      </p:sp>
      <p:sp>
        <p:nvSpPr>
          <p:cNvPr id="95" name="latency-total">
            <a:extLst xmlns:a="http://schemas.openxmlformats.org/drawingml/2006/main">
              <a:ext uri="{FF2B5EF4-FFF2-40B4-BE49-F238E27FC236}">
                <a16:creationId xmlns:a16="http://schemas.microsoft.com/office/drawing/2014/main" id="{7E143830-1E05-4498-BE80-81EE09E3DD5E}"/>
              </a:ext>
            </a:extLst>
          </p:cNvPr>
          <p:cNvSpPr>
            <a:spLocks xmlns:a="http://schemas.openxmlformats.org/drawingml/2006/main" noGrp="1"/>
          </p:cNvSpPr>
          <p:nvPr/>
        </p:nvSpPr>
        <p:spPr>
          <a:xfrm xmlns:a="http://schemas.openxmlformats.org/drawingml/2006/main">
            <a:off x="10696575" y="34909125"/>
            <a:ext cx="8867775" cy="1381125"/>
          </a:xfrm>
          <a:prstGeom xmlns:a="http://schemas.openxmlformats.org/drawingml/2006/main" prst="rect">
            <a:avLst/>
          </a:prstGeom>
          <a:solidFill xmlns:a="http://schemas.openxmlformats.org/drawingml/2006/main">
            <a:srgbClr val="EAF4FB"/>
          </a:solidFill>
          <a:ln xmlns:a="http://schemas.openxmlformats.org/drawingml/2006/main" w="0">
            <a:noFill/>
            <a:prstDash val="solid"/>
          </a:ln>
        </p:spPr>
        <p:txBody>
          <a:bodyPr xmlns:a="http://schemas.openxmlformats.org/drawingml/2006/main" wrap="square" lIns="228600" tIns="209550" rIns="228600" bIns="209550" anchor="ctr">
            <a:normAutofit fontScale="100000"/>
          </a:bodyPr>
          <a:lstStyle xmlns:a="http://schemas.openxmlformats.org/drawingml/2006/main"/>
          <a:p xmlns:a="http://schemas.openxmlformats.org/drawingml/2006/main">
            <a:pPr algn="l">
              <a:lnSpc>
                <a:spcPct val="103000"/>
              </a:lnSpc>
              <a:buNone/>
              <a:defRPr sz="2025" b="0">
                <a:solidFill>
                  <a:srgbClr val="102A43"/>
                </a:solidFill>
                <a:latin typeface="Arial"/>
                <a:ea typeface="Arial"/>
                <a:cs typeface="Arial"/>
              </a:defRPr>
            </a:pPr>
            <a:r>
              <a:rPr sz="2025" b="0">
                <a:solidFill>
                  <a:srgbClr val="102A43"/>
                </a:solidFill>
                <a:latin typeface="Arial"/>
                <a:ea typeface="Arial"/>
                <a:cs typeface="Arial"/>
              </a:rPr>
              <a:t>5,53 s por pregunta: la generación consume 5,36 s en promedio y domina la latencia del pipeline.</a:t>
            </a:r>
          </a:p>
        </p:txBody>
      </p:sp>
      <p:sp>
        <p:nvSpPr>
          <p:cNvPr id="96" name="findings-title-bar">
            <a:extLst xmlns:a="http://schemas.openxmlformats.org/drawingml/2006/main">
              <a:ext uri="{FF2B5EF4-FFF2-40B4-BE49-F238E27FC236}">
                <a16:creationId xmlns:a16="http://schemas.microsoft.com/office/drawing/2014/main" id="{116913FE-0CBF-4002-BC64-B6D5E0C0C544}"/>
              </a:ext>
            </a:extLst>
          </p:cNvPr>
          <p:cNvSpPr>
            <a:spLocks xmlns:a="http://schemas.openxmlformats.org/drawingml/2006/main" noGrp="1"/>
          </p:cNvSpPr>
          <p:nvPr/>
        </p:nvSpPr>
        <p:spPr>
          <a:xfrm xmlns:a="http://schemas.openxmlformats.org/drawingml/2006/main">
            <a:off x="20250150" y="17449800"/>
            <a:ext cx="95250" cy="400050"/>
          </a:xfrm>
          <a:prstGeom xmlns:a="http://schemas.openxmlformats.org/drawingml/2006/main" prst="rect">
            <a:avLst/>
          </a:prstGeom>
          <a:solidFill xmlns:a="http://schemas.openxmlformats.org/drawingml/2006/main">
            <a:srgbClr val="C95F45"/>
          </a:solidFill>
          <a:ln xmlns:a="http://schemas.openxmlformats.org/drawingml/2006/main" w="0">
            <a:noFill/>
            <a:prstDash val="solid"/>
          </a:ln>
        </p:spPr>
      </p:sp>
      <p:sp>
        <p:nvSpPr>
          <p:cNvPr id="97" name="findings-title">
            <a:extLst xmlns:a="http://schemas.openxmlformats.org/drawingml/2006/main">
              <a:ext uri="{FF2B5EF4-FFF2-40B4-BE49-F238E27FC236}">
                <a16:creationId xmlns:a16="http://schemas.microsoft.com/office/drawing/2014/main" id="{B24C506C-215C-47B9-9AA5-DFF10044595B}"/>
              </a:ext>
            </a:extLst>
          </p:cNvPr>
          <p:cNvSpPr>
            <a:spLocks xmlns:a="http://schemas.openxmlformats.org/drawingml/2006/main" noGrp="1"/>
          </p:cNvSpPr>
          <p:nvPr/>
        </p:nvSpPr>
        <p:spPr>
          <a:xfrm xmlns:a="http://schemas.openxmlformats.org/drawingml/2006/main">
            <a:off x="20516850" y="17383125"/>
            <a:ext cx="86010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02A43"/>
                </a:solidFill>
                <a:latin typeface="Arial"/>
                <a:ea typeface="Arial"/>
                <a:cs typeface="Arial"/>
              </a:defRPr>
            </a:pPr>
            <a:r>
              <a:rPr sz="3000" b="1">
                <a:solidFill>
                  <a:srgbClr val="102A43"/>
                </a:solidFill>
                <a:latin typeface="Arial"/>
                <a:ea typeface="Arial"/>
                <a:cs typeface="Arial"/>
              </a:rPr>
              <a:t>Lo que reveló la observabilidad</a:t>
            </a:r>
          </a:p>
        </p:txBody>
      </p:sp>
      <p:sp>
        <p:nvSpPr>
          <p:cNvPr id="98" name="finding-1-number">
            <a:extLst xmlns:a="http://schemas.openxmlformats.org/drawingml/2006/main">
              <a:ext uri="{FF2B5EF4-FFF2-40B4-BE49-F238E27FC236}">
                <a16:creationId xmlns:a16="http://schemas.microsoft.com/office/drawing/2014/main" id="{707E1B7A-C220-4459-8D95-B437D55FDAE6}"/>
              </a:ext>
            </a:extLst>
          </p:cNvPr>
          <p:cNvSpPr>
            <a:spLocks xmlns:a="http://schemas.openxmlformats.org/drawingml/2006/main" noGrp="1"/>
          </p:cNvSpPr>
          <p:nvPr/>
        </p:nvSpPr>
        <p:spPr>
          <a:xfrm xmlns:a="http://schemas.openxmlformats.org/drawingml/2006/main">
            <a:off x="20250150" y="18259425"/>
            <a:ext cx="685800" cy="685800"/>
          </a:xfrm>
          <a:prstGeom xmlns:a="http://schemas.openxmlformats.org/drawingml/2006/main" prst="rect">
            <a:avLst/>
          </a:prstGeom>
          <a:solidFill xmlns:a="http://schemas.openxmlformats.org/drawingml/2006/main">
            <a:srgbClr val="C95F45"/>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3000" b="1">
                <a:solidFill>
                  <a:srgbClr val="FFFFFF"/>
                </a:solidFill>
                <a:latin typeface="Arial"/>
                <a:ea typeface="Arial"/>
                <a:cs typeface="Arial"/>
              </a:defRPr>
            </a:pPr>
            <a:r>
              <a:rPr sz="3000" b="1">
                <a:solidFill>
                  <a:srgbClr val="FFFFFF"/>
                </a:solidFill>
                <a:latin typeface="Arial"/>
                <a:ea typeface="Arial"/>
                <a:cs typeface="Arial"/>
              </a:rPr>
              <a:t>1</a:t>
            </a:r>
          </a:p>
        </p:txBody>
      </p:sp>
      <p:sp>
        <p:nvSpPr>
          <p:cNvPr id="99" name="finding-1-title">
            <a:extLst xmlns:a="http://schemas.openxmlformats.org/drawingml/2006/main">
              <a:ext uri="{FF2B5EF4-FFF2-40B4-BE49-F238E27FC236}">
                <a16:creationId xmlns:a16="http://schemas.microsoft.com/office/drawing/2014/main" id="{A4D86C46-533C-47C6-AC9E-CF7444598E14}"/>
              </a:ext>
            </a:extLst>
          </p:cNvPr>
          <p:cNvSpPr>
            <a:spLocks xmlns:a="http://schemas.openxmlformats.org/drawingml/2006/main" noGrp="1"/>
          </p:cNvSpPr>
          <p:nvPr/>
        </p:nvSpPr>
        <p:spPr>
          <a:xfrm xmlns:a="http://schemas.openxmlformats.org/drawingml/2006/main">
            <a:off x="21183600" y="18240375"/>
            <a:ext cx="79343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a:solidFill>
                  <a:srgbClr val="102A43"/>
                </a:solidFill>
                <a:latin typeface="Arial"/>
                <a:ea typeface="Arial"/>
                <a:cs typeface="Arial"/>
              </a:defRPr>
            </a:pPr>
            <a:r>
              <a:rPr sz="2175" b="1">
                <a:solidFill>
                  <a:srgbClr val="102A43"/>
                </a:solidFill>
                <a:latin typeface="Arial"/>
                <a:ea typeface="Arial"/>
                <a:cs typeface="Arial"/>
              </a:rPr>
              <a:t>Evidencia distribuida</a:t>
            </a:r>
          </a:p>
        </p:txBody>
      </p:sp>
      <p:sp>
        <p:nvSpPr>
          <p:cNvPr id="100" name="finding-1-body">
            <a:extLst xmlns:a="http://schemas.openxmlformats.org/drawingml/2006/main">
              <a:ext uri="{FF2B5EF4-FFF2-40B4-BE49-F238E27FC236}">
                <a16:creationId xmlns:a16="http://schemas.microsoft.com/office/drawing/2014/main" id="{D6F4810C-626A-4470-8A9C-FF8AC4C0771A}"/>
              </a:ext>
            </a:extLst>
          </p:cNvPr>
          <p:cNvSpPr>
            <a:spLocks xmlns:a="http://schemas.openxmlformats.org/drawingml/2006/main" noGrp="1"/>
          </p:cNvSpPr>
          <p:nvPr/>
        </p:nvSpPr>
        <p:spPr>
          <a:xfrm xmlns:a="http://schemas.openxmlformats.org/drawingml/2006/main">
            <a:off x="21183600" y="18792825"/>
            <a:ext cx="7934325"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52606D"/>
                </a:solidFill>
                <a:latin typeface="Arial"/>
                <a:ea typeface="Arial"/>
                <a:cs typeface="Arial"/>
              </a:defRPr>
            </a:pPr>
            <a:r>
              <a:rPr sz="1800" b="0">
                <a:solidFill>
                  <a:srgbClr val="52606D"/>
                </a:solidFill>
                <a:latin typeface="Arial"/>
                <a:ea typeface="Arial"/>
                <a:cs typeface="Arial"/>
              </a:rPr>
              <a:t>Solo 2 de 8 preguntas de varias secciones fueron aprobadas. Con frecuencia se recuperó una parte, pero no todos los artículos necesarios.</a:t>
            </a:r>
          </a:p>
        </p:txBody>
      </p:sp>
      <p:sp>
        <p:nvSpPr>
          <p:cNvPr id="101" name="finding-2-number">
            <a:extLst xmlns:a="http://schemas.openxmlformats.org/drawingml/2006/main">
              <a:ext uri="{FF2B5EF4-FFF2-40B4-BE49-F238E27FC236}">
                <a16:creationId xmlns:a16="http://schemas.microsoft.com/office/drawing/2014/main" id="{02749AB3-452D-4A0D-8A8B-D5F94CDE6175}"/>
              </a:ext>
            </a:extLst>
          </p:cNvPr>
          <p:cNvSpPr>
            <a:spLocks xmlns:a="http://schemas.openxmlformats.org/drawingml/2006/main" noGrp="1"/>
          </p:cNvSpPr>
          <p:nvPr/>
        </p:nvSpPr>
        <p:spPr>
          <a:xfrm xmlns:a="http://schemas.openxmlformats.org/drawingml/2006/main">
            <a:off x="20250150" y="20431125"/>
            <a:ext cx="685800" cy="685800"/>
          </a:xfrm>
          <a:prstGeom xmlns:a="http://schemas.openxmlformats.org/drawingml/2006/main" prst="rect">
            <a:avLst/>
          </a:prstGeom>
          <a:solidFill xmlns:a="http://schemas.openxmlformats.org/drawingml/2006/main">
            <a:srgbClr val="C95F45"/>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3000" b="1">
                <a:solidFill>
                  <a:srgbClr val="FFFFFF"/>
                </a:solidFill>
                <a:latin typeface="Arial"/>
                <a:ea typeface="Arial"/>
                <a:cs typeface="Arial"/>
              </a:defRPr>
            </a:pPr>
            <a:r>
              <a:rPr sz="3000" b="1">
                <a:solidFill>
                  <a:srgbClr val="FFFFFF"/>
                </a:solidFill>
                <a:latin typeface="Arial"/>
                <a:ea typeface="Arial"/>
                <a:cs typeface="Arial"/>
              </a:rPr>
              <a:t>2</a:t>
            </a:r>
          </a:p>
        </p:txBody>
      </p:sp>
      <p:sp>
        <p:nvSpPr>
          <p:cNvPr id="102" name="finding-2-title">
            <a:extLst xmlns:a="http://schemas.openxmlformats.org/drawingml/2006/main">
              <a:ext uri="{FF2B5EF4-FFF2-40B4-BE49-F238E27FC236}">
                <a16:creationId xmlns:a16="http://schemas.microsoft.com/office/drawing/2014/main" id="{C5BE825D-8110-4C53-A4AA-2789586D7FC9}"/>
              </a:ext>
            </a:extLst>
          </p:cNvPr>
          <p:cNvSpPr>
            <a:spLocks xmlns:a="http://schemas.openxmlformats.org/drawingml/2006/main" noGrp="1"/>
          </p:cNvSpPr>
          <p:nvPr/>
        </p:nvSpPr>
        <p:spPr>
          <a:xfrm xmlns:a="http://schemas.openxmlformats.org/drawingml/2006/main">
            <a:off x="21183600" y="20412075"/>
            <a:ext cx="79343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a:solidFill>
                  <a:srgbClr val="102A43"/>
                </a:solidFill>
                <a:latin typeface="Arial"/>
                <a:ea typeface="Arial"/>
                <a:cs typeface="Arial"/>
              </a:defRPr>
            </a:pPr>
            <a:r>
              <a:rPr sz="2175" b="1">
                <a:solidFill>
                  <a:srgbClr val="102A43"/>
                </a:solidFill>
                <a:latin typeface="Arial"/>
                <a:ea typeface="Arial"/>
                <a:cs typeface="Arial"/>
              </a:rPr>
              <a:t>Documento correcto, fragmento incorrecto</a:t>
            </a:r>
          </a:p>
        </p:txBody>
      </p:sp>
      <p:sp>
        <p:nvSpPr>
          <p:cNvPr id="103" name="finding-2-body">
            <a:extLst xmlns:a="http://schemas.openxmlformats.org/drawingml/2006/main">
              <a:ext uri="{FF2B5EF4-FFF2-40B4-BE49-F238E27FC236}">
                <a16:creationId xmlns:a16="http://schemas.microsoft.com/office/drawing/2014/main" id="{A57651D9-D894-44E4-A049-A4BBF114A8F9}"/>
              </a:ext>
            </a:extLst>
          </p:cNvPr>
          <p:cNvSpPr>
            <a:spLocks xmlns:a="http://schemas.openxmlformats.org/drawingml/2006/main" noGrp="1"/>
          </p:cNvSpPr>
          <p:nvPr/>
        </p:nvSpPr>
        <p:spPr>
          <a:xfrm xmlns:a="http://schemas.openxmlformats.org/drawingml/2006/main">
            <a:off x="21183600" y="20964525"/>
            <a:ext cx="7934325"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52606D"/>
                </a:solidFill>
                <a:latin typeface="Arial"/>
                <a:ea typeface="Arial"/>
                <a:cs typeface="Arial"/>
              </a:defRPr>
            </a:pPr>
            <a:r>
              <a:rPr sz="1800" b="0">
                <a:solidFill>
                  <a:srgbClr val="52606D"/>
                </a:solidFill>
                <a:latin typeface="Arial"/>
                <a:ea typeface="Arial"/>
                <a:cs typeface="Arial"/>
              </a:rPr>
              <a:t>En q029 apareció el artículo relacionado, pero no el fragmento que contenía el dato. El análisis por Record ID habría ocultado el fallo.</a:t>
            </a:r>
          </a:p>
        </p:txBody>
      </p:sp>
      <p:sp>
        <p:nvSpPr>
          <p:cNvPr id="104" name="finding-3-number">
            <a:extLst xmlns:a="http://schemas.openxmlformats.org/drawingml/2006/main">
              <a:ext uri="{FF2B5EF4-FFF2-40B4-BE49-F238E27FC236}">
                <a16:creationId xmlns:a16="http://schemas.microsoft.com/office/drawing/2014/main" id="{B73F3CC4-472C-495D-AAA5-4C1A6A55FDE1}"/>
              </a:ext>
            </a:extLst>
          </p:cNvPr>
          <p:cNvSpPr>
            <a:spLocks xmlns:a="http://schemas.openxmlformats.org/drawingml/2006/main" noGrp="1"/>
          </p:cNvSpPr>
          <p:nvPr/>
        </p:nvSpPr>
        <p:spPr>
          <a:xfrm xmlns:a="http://schemas.openxmlformats.org/drawingml/2006/main">
            <a:off x="20250150" y="22602825"/>
            <a:ext cx="685800" cy="685800"/>
          </a:xfrm>
          <a:prstGeom xmlns:a="http://schemas.openxmlformats.org/drawingml/2006/main" prst="rect">
            <a:avLst/>
          </a:prstGeom>
          <a:solidFill xmlns:a="http://schemas.openxmlformats.org/drawingml/2006/main">
            <a:srgbClr val="C95F45"/>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3000" b="1">
                <a:solidFill>
                  <a:srgbClr val="FFFFFF"/>
                </a:solidFill>
                <a:latin typeface="Arial"/>
                <a:ea typeface="Arial"/>
                <a:cs typeface="Arial"/>
              </a:defRPr>
            </a:pPr>
            <a:r>
              <a:rPr sz="3000" b="1">
                <a:solidFill>
                  <a:srgbClr val="FFFFFF"/>
                </a:solidFill>
                <a:latin typeface="Arial"/>
                <a:ea typeface="Arial"/>
                <a:cs typeface="Arial"/>
              </a:rPr>
              <a:t>3</a:t>
            </a:r>
          </a:p>
        </p:txBody>
      </p:sp>
      <p:sp>
        <p:nvSpPr>
          <p:cNvPr id="105" name="finding-3-title">
            <a:extLst xmlns:a="http://schemas.openxmlformats.org/drawingml/2006/main">
              <a:ext uri="{FF2B5EF4-FFF2-40B4-BE49-F238E27FC236}">
                <a16:creationId xmlns:a16="http://schemas.microsoft.com/office/drawing/2014/main" id="{C8BE5C58-8545-4B95-BD6E-662FC85718FE}"/>
              </a:ext>
            </a:extLst>
          </p:cNvPr>
          <p:cNvSpPr>
            <a:spLocks xmlns:a="http://schemas.openxmlformats.org/drawingml/2006/main" noGrp="1"/>
          </p:cNvSpPr>
          <p:nvPr/>
        </p:nvSpPr>
        <p:spPr>
          <a:xfrm xmlns:a="http://schemas.openxmlformats.org/drawingml/2006/main">
            <a:off x="21183600" y="22583775"/>
            <a:ext cx="79343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a:solidFill>
                  <a:srgbClr val="102A43"/>
                </a:solidFill>
                <a:latin typeface="Arial"/>
                <a:ea typeface="Arial"/>
                <a:cs typeface="Arial"/>
              </a:defRPr>
            </a:pPr>
            <a:r>
              <a:rPr sz="2175" b="1">
                <a:solidFill>
                  <a:srgbClr val="102A43"/>
                </a:solidFill>
                <a:latin typeface="Arial"/>
                <a:ea typeface="Arial"/>
                <a:cs typeface="Arial"/>
              </a:rPr>
              <a:t>Contenido correcto, salida inválida</a:t>
            </a:r>
          </a:p>
        </p:txBody>
      </p:sp>
      <p:sp>
        <p:nvSpPr>
          <p:cNvPr id="106" name="finding-3-body">
            <a:extLst xmlns:a="http://schemas.openxmlformats.org/drawingml/2006/main">
              <a:ext uri="{FF2B5EF4-FFF2-40B4-BE49-F238E27FC236}">
                <a16:creationId xmlns:a16="http://schemas.microsoft.com/office/drawing/2014/main" id="{BD44837C-B08B-43C7-BBEA-E40129A3D9CA}"/>
              </a:ext>
            </a:extLst>
          </p:cNvPr>
          <p:cNvSpPr>
            <a:spLocks xmlns:a="http://schemas.openxmlformats.org/drawingml/2006/main" noGrp="1"/>
          </p:cNvSpPr>
          <p:nvPr/>
        </p:nvSpPr>
        <p:spPr>
          <a:xfrm xmlns:a="http://schemas.openxmlformats.org/drawingml/2006/main">
            <a:off x="21183600" y="23136225"/>
            <a:ext cx="7934325"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52606D"/>
                </a:solidFill>
                <a:latin typeface="Arial"/>
                <a:ea typeface="Arial"/>
                <a:cs typeface="Arial"/>
              </a:defRPr>
            </a:pPr>
            <a:r>
              <a:rPr sz="1800" b="0">
                <a:solidFill>
                  <a:srgbClr val="52606D"/>
                </a:solidFill>
                <a:latin typeface="Arial"/>
                <a:ea typeface="Arial"/>
                <a:cs typeface="Arial"/>
              </a:rPr>
              <a:t>q025 y q032 se rechazaron porque las citas visibles y estructuradas no coincidían. La validez del contrato también es calidad.</a:t>
            </a:r>
          </a:p>
        </p:txBody>
      </p:sp>
      <p:sp>
        <p:nvSpPr>
          <p:cNvPr id="107" name="finding-4-number">
            <a:extLst xmlns:a="http://schemas.openxmlformats.org/drawingml/2006/main">
              <a:ext uri="{FF2B5EF4-FFF2-40B4-BE49-F238E27FC236}">
                <a16:creationId xmlns:a16="http://schemas.microsoft.com/office/drawing/2014/main" id="{26E73B08-9C11-4281-A9E3-EE09B0FB54BF}"/>
              </a:ext>
            </a:extLst>
          </p:cNvPr>
          <p:cNvSpPr>
            <a:spLocks xmlns:a="http://schemas.openxmlformats.org/drawingml/2006/main" noGrp="1"/>
          </p:cNvSpPr>
          <p:nvPr/>
        </p:nvSpPr>
        <p:spPr>
          <a:xfrm xmlns:a="http://schemas.openxmlformats.org/drawingml/2006/main">
            <a:off x="20250150" y="24774525"/>
            <a:ext cx="685800" cy="685800"/>
          </a:xfrm>
          <a:prstGeom xmlns:a="http://schemas.openxmlformats.org/drawingml/2006/main" prst="rect">
            <a:avLst/>
          </a:prstGeom>
          <a:solidFill xmlns:a="http://schemas.openxmlformats.org/drawingml/2006/main">
            <a:srgbClr val="2F855A"/>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3000" b="1">
                <a:solidFill>
                  <a:srgbClr val="FFFFFF"/>
                </a:solidFill>
                <a:latin typeface="Arial"/>
                <a:ea typeface="Arial"/>
                <a:cs typeface="Arial"/>
              </a:defRPr>
            </a:pPr>
            <a:r>
              <a:rPr sz="3000" b="1">
                <a:solidFill>
                  <a:srgbClr val="FFFFFF"/>
                </a:solidFill>
                <a:latin typeface="Arial"/>
                <a:ea typeface="Arial"/>
                <a:cs typeface="Arial"/>
              </a:rPr>
              <a:t>4</a:t>
            </a:r>
          </a:p>
        </p:txBody>
      </p:sp>
      <p:sp>
        <p:nvSpPr>
          <p:cNvPr id="108" name="finding-4-title">
            <a:extLst xmlns:a="http://schemas.openxmlformats.org/drawingml/2006/main">
              <a:ext uri="{FF2B5EF4-FFF2-40B4-BE49-F238E27FC236}">
                <a16:creationId xmlns:a16="http://schemas.microsoft.com/office/drawing/2014/main" id="{E828E261-0ABE-44E9-82BD-1B8B55C456A0}"/>
              </a:ext>
            </a:extLst>
          </p:cNvPr>
          <p:cNvSpPr>
            <a:spLocks xmlns:a="http://schemas.openxmlformats.org/drawingml/2006/main" noGrp="1"/>
          </p:cNvSpPr>
          <p:nvPr/>
        </p:nvSpPr>
        <p:spPr>
          <a:xfrm xmlns:a="http://schemas.openxmlformats.org/drawingml/2006/main">
            <a:off x="21183600" y="24755475"/>
            <a:ext cx="79343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a:solidFill>
                  <a:srgbClr val="102A43"/>
                </a:solidFill>
                <a:latin typeface="Arial"/>
                <a:ea typeface="Arial"/>
                <a:cs typeface="Arial"/>
              </a:defRPr>
            </a:pPr>
            <a:r>
              <a:rPr sz="2175" b="1">
                <a:solidFill>
                  <a:srgbClr val="102A43"/>
                </a:solidFill>
                <a:latin typeface="Arial"/>
                <a:ea typeface="Arial"/>
                <a:cs typeface="Arial"/>
              </a:rPr>
              <a:t>Abstención confiable</a:t>
            </a:r>
          </a:p>
        </p:txBody>
      </p:sp>
      <p:sp>
        <p:nvSpPr>
          <p:cNvPr id="109" name="finding-4-body">
            <a:extLst xmlns:a="http://schemas.openxmlformats.org/drawingml/2006/main">
              <a:ext uri="{FF2B5EF4-FFF2-40B4-BE49-F238E27FC236}">
                <a16:creationId xmlns:a16="http://schemas.microsoft.com/office/drawing/2014/main" id="{7B6399F7-92A6-4553-98B1-1FC7B233D8B0}"/>
              </a:ext>
            </a:extLst>
          </p:cNvPr>
          <p:cNvSpPr>
            <a:spLocks xmlns:a="http://schemas.openxmlformats.org/drawingml/2006/main" noGrp="1"/>
          </p:cNvSpPr>
          <p:nvPr/>
        </p:nvSpPr>
        <p:spPr>
          <a:xfrm xmlns:a="http://schemas.openxmlformats.org/drawingml/2006/main">
            <a:off x="21183600" y="25307925"/>
            <a:ext cx="7934325"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52606D"/>
                </a:solidFill>
                <a:latin typeface="Arial"/>
                <a:ea typeface="Arial"/>
                <a:cs typeface="Arial"/>
              </a:defRPr>
            </a:pPr>
            <a:r>
              <a:rPr sz="1800" b="0">
                <a:solidFill>
                  <a:srgbClr val="52606D"/>
                </a:solidFill>
                <a:latin typeface="Arial"/>
                <a:ea typeface="Arial"/>
                <a:cs typeface="Arial"/>
              </a:rPr>
              <a:t>Las 7 preguntas sobre precios, horarios, contraseñas o cupos actuales recibieron not_found, sin inventar información ausente.</a:t>
            </a:r>
          </a:p>
        </p:txBody>
      </p:sp>
      <p:sp>
        <p:nvSpPr>
          <p:cNvPr id="110" name="conclusion-panel">
            <a:extLst xmlns:a="http://schemas.openxmlformats.org/drawingml/2006/main">
              <a:ext uri="{FF2B5EF4-FFF2-40B4-BE49-F238E27FC236}">
                <a16:creationId xmlns:a16="http://schemas.microsoft.com/office/drawing/2014/main" id="{4E34BC67-EDD6-4F14-9B63-A6922EA4C1EF}"/>
              </a:ext>
            </a:extLst>
          </p:cNvPr>
          <p:cNvSpPr>
            <a:spLocks xmlns:a="http://schemas.openxmlformats.org/drawingml/2006/main" noGrp="1"/>
          </p:cNvSpPr>
          <p:nvPr/>
        </p:nvSpPr>
        <p:spPr>
          <a:xfrm xmlns:a="http://schemas.openxmlformats.org/drawingml/2006/main">
            <a:off x="20250150" y="27146250"/>
            <a:ext cx="8867775" cy="3857625"/>
          </a:xfrm>
          <a:prstGeom xmlns:a="http://schemas.openxmlformats.org/drawingml/2006/main" prst="roundRect">
            <a:avLst>
              <a:gd name="adj" fmla="val 1975"/>
            </a:avLst>
          </a:prstGeom>
          <a:solidFill xmlns:a="http://schemas.openxmlformats.org/drawingml/2006/main">
            <a:srgbClr val="102A43"/>
          </a:solidFill>
          <a:ln xmlns:a="http://schemas.openxmlformats.org/drawingml/2006/main" w="0">
            <a:noFill/>
            <a:prstDash val="solid"/>
          </a:ln>
        </p:spPr>
      </p:sp>
      <p:sp>
        <p:nvSpPr>
          <p:cNvPr id="111" name="conclusion-label">
            <a:extLst xmlns:a="http://schemas.openxmlformats.org/drawingml/2006/main">
              <a:ext uri="{FF2B5EF4-FFF2-40B4-BE49-F238E27FC236}">
                <a16:creationId xmlns:a16="http://schemas.microsoft.com/office/drawing/2014/main" id="{AD98DF29-D934-4CB5-B07F-B1A85DF9CC9C}"/>
              </a:ext>
            </a:extLst>
          </p:cNvPr>
          <p:cNvSpPr>
            <a:spLocks xmlns:a="http://schemas.openxmlformats.org/drawingml/2006/main" noGrp="1"/>
          </p:cNvSpPr>
          <p:nvPr/>
        </p:nvSpPr>
        <p:spPr>
          <a:xfrm xmlns:a="http://schemas.openxmlformats.org/drawingml/2006/main">
            <a:off x="20554950" y="27432000"/>
            <a:ext cx="82581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a:solidFill>
                  <a:srgbClr val="8DE0D0"/>
                </a:solidFill>
                <a:latin typeface="Arial"/>
                <a:ea typeface="Arial"/>
                <a:cs typeface="Arial"/>
              </a:defRPr>
            </a:pPr>
            <a:r>
              <a:rPr sz="1650" b="1">
                <a:solidFill>
                  <a:srgbClr val="8DE0D0"/>
                </a:solidFill>
                <a:latin typeface="Arial"/>
                <a:ea typeface="Arial"/>
                <a:cs typeface="Arial"/>
              </a:rPr>
              <a:t>CONCLUSIÓN</a:t>
            </a:r>
          </a:p>
        </p:txBody>
      </p:sp>
      <p:sp>
        <p:nvSpPr>
          <p:cNvPr id="112" name="conclusion-body">
            <a:extLst xmlns:a="http://schemas.openxmlformats.org/drawingml/2006/main">
              <a:ext uri="{FF2B5EF4-FFF2-40B4-BE49-F238E27FC236}">
                <a16:creationId xmlns:a16="http://schemas.microsoft.com/office/drawing/2014/main" id="{1B9595C8-E1BD-4F3E-A091-0708499360FB}"/>
              </a:ext>
            </a:extLst>
          </p:cNvPr>
          <p:cNvSpPr>
            <a:spLocks xmlns:a="http://schemas.openxmlformats.org/drawingml/2006/main" noGrp="1"/>
          </p:cNvSpPr>
          <p:nvPr/>
        </p:nvSpPr>
        <p:spPr>
          <a:xfrm xmlns:a="http://schemas.openxmlformats.org/drawingml/2006/main">
            <a:off x="20554950" y="28003500"/>
            <a:ext cx="8258175"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FFF"/>
                </a:solidFill>
                <a:latin typeface="Arial"/>
                <a:ea typeface="Arial"/>
                <a:cs typeface="Arial"/>
              </a:defRPr>
            </a:pPr>
            <a:r>
              <a:rPr sz="2175" b="1">
                <a:solidFill>
                  <a:srgbClr val="FFFFFF"/>
                </a:solidFill>
                <a:latin typeface="Arial"/>
                <a:ea typeface="Arial"/>
                <a:cs typeface="Arial"/>
              </a:rPr>
              <a:t>Una arquitectura pequeña puede ofrecer trazabilidad útil sin una plataforma compleja. Registrar evidencia, citas, estados y tiempos permitió localizar fallos en recuperación, generación y validación.</a:t>
            </a:r>
          </a:p>
        </p:txBody>
      </p:sp>
      <p:sp>
        <p:nvSpPr>
          <p:cNvPr id="113" name="limitations-title-bar">
            <a:extLst xmlns:a="http://schemas.openxmlformats.org/drawingml/2006/main">
              <a:ext uri="{FF2B5EF4-FFF2-40B4-BE49-F238E27FC236}">
                <a16:creationId xmlns:a16="http://schemas.microsoft.com/office/drawing/2014/main" id="{4F7367FD-C93C-40E3-91F6-DBDEAABF7260}"/>
              </a:ext>
            </a:extLst>
          </p:cNvPr>
          <p:cNvSpPr>
            <a:spLocks xmlns:a="http://schemas.openxmlformats.org/drawingml/2006/main" noGrp="1"/>
          </p:cNvSpPr>
          <p:nvPr/>
        </p:nvSpPr>
        <p:spPr>
          <a:xfrm xmlns:a="http://schemas.openxmlformats.org/drawingml/2006/main">
            <a:off x="20250150" y="31546800"/>
            <a:ext cx="95250" cy="400050"/>
          </a:xfrm>
          <a:prstGeom xmlns:a="http://schemas.openxmlformats.org/drawingml/2006/main" prst="rect">
            <a:avLst/>
          </a:prstGeom>
          <a:solidFill xmlns:a="http://schemas.openxmlformats.org/drawingml/2006/main">
            <a:srgbClr val="2D6CDF"/>
          </a:solidFill>
          <a:ln xmlns:a="http://schemas.openxmlformats.org/drawingml/2006/main" w="0">
            <a:noFill/>
            <a:prstDash val="solid"/>
          </a:ln>
        </p:spPr>
      </p:sp>
      <p:sp>
        <p:nvSpPr>
          <p:cNvPr id="114" name="limitations-title">
            <a:extLst xmlns:a="http://schemas.openxmlformats.org/drawingml/2006/main">
              <a:ext uri="{FF2B5EF4-FFF2-40B4-BE49-F238E27FC236}">
                <a16:creationId xmlns:a16="http://schemas.microsoft.com/office/drawing/2014/main" id="{EB161E37-7642-46B7-A172-5EF879DE2C9A}"/>
              </a:ext>
            </a:extLst>
          </p:cNvPr>
          <p:cNvSpPr>
            <a:spLocks xmlns:a="http://schemas.openxmlformats.org/drawingml/2006/main" noGrp="1"/>
          </p:cNvSpPr>
          <p:nvPr/>
        </p:nvSpPr>
        <p:spPr>
          <a:xfrm xmlns:a="http://schemas.openxmlformats.org/drawingml/2006/main">
            <a:off x="20516850" y="31480125"/>
            <a:ext cx="86010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000" b="1">
                <a:solidFill>
                  <a:srgbClr val="102A43"/>
                </a:solidFill>
                <a:latin typeface="Arial"/>
                <a:ea typeface="Arial"/>
                <a:cs typeface="Arial"/>
              </a:defRPr>
            </a:pPr>
            <a:r>
              <a:rPr sz="3000" b="1">
                <a:solidFill>
                  <a:srgbClr val="102A43"/>
                </a:solidFill>
                <a:latin typeface="Arial"/>
                <a:ea typeface="Arial"/>
                <a:cs typeface="Arial"/>
              </a:rPr>
              <a:t>Limitaciones y trabajo futuro</a:t>
            </a:r>
          </a:p>
        </p:txBody>
      </p:sp>
      <p:sp>
        <p:nvSpPr>
          <p:cNvPr id="115" name="limitations-body">
            <a:extLst xmlns:a="http://schemas.openxmlformats.org/drawingml/2006/main">
              <a:ext uri="{FF2B5EF4-FFF2-40B4-BE49-F238E27FC236}">
                <a16:creationId xmlns:a16="http://schemas.microsoft.com/office/drawing/2014/main" id="{2C3DF411-850C-4B7D-8154-64365235FECD}"/>
              </a:ext>
            </a:extLst>
          </p:cNvPr>
          <p:cNvSpPr>
            <a:spLocks xmlns:a="http://schemas.openxmlformats.org/drawingml/2006/main" noGrp="1"/>
          </p:cNvSpPr>
          <p:nvPr/>
        </p:nvSpPr>
        <p:spPr>
          <a:xfrm xmlns:a="http://schemas.openxmlformats.org/drawingml/2006/main">
            <a:off x="20250150" y="32242125"/>
            <a:ext cx="8867775"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875" b="0">
                <a:solidFill>
                  <a:srgbClr val="102A43"/>
                </a:solidFill>
                <a:latin typeface="Arial"/>
                <a:ea typeface="Arial"/>
                <a:cs typeface="Arial"/>
              </a:defRPr>
            </a:pPr>
            <a:r>
              <a:rPr sz="1875" b="0">
                <a:solidFill>
                  <a:srgbClr val="102A43"/>
                </a:solidFill>
                <a:latin typeface="Arial"/>
                <a:ea typeface="Arial"/>
                <a:cs typeface="Arial"/>
              </a:rPr>
              <a:t>Limitaciones</a:t>
            </a:r>
          </a:p>
          <a:p xmlns:a="http://schemas.openxmlformats.org/drawingml/2006/main">
            <a:pPr algn="l">
              <a:lnSpc>
                <a:spcPct val="103000"/>
              </a:lnSpc>
              <a:buNone/>
              <a:defRPr sz="1875" b="0">
                <a:solidFill>
                  <a:srgbClr val="102A43"/>
                </a:solidFill>
                <a:latin typeface="Arial"/>
                <a:ea typeface="Arial"/>
                <a:cs typeface="Arial"/>
              </a:defRPr>
            </a:pPr>
            <a:r>
              <a:rPr sz="1875" b="0">
                <a:solidFill>
                  <a:srgbClr val="102A43"/>
                </a:solidFill>
                <a:latin typeface="Arial"/>
                <a:ea typeface="Arial"/>
                <a:cs typeface="Arial"/>
              </a:rPr>
              <a:t>- Un dominio, un embedding y un modelo generativo</a:t>
            </a:r>
          </a:p>
          <a:p xmlns:a="http://schemas.openxmlformats.org/drawingml/2006/main">
            <a:pPr algn="l">
              <a:lnSpc>
                <a:spcPct val="103000"/>
              </a:lnSpc>
              <a:buNone/>
              <a:defRPr sz="1875" b="0">
                <a:solidFill>
                  <a:srgbClr val="102A43"/>
                </a:solidFill>
                <a:latin typeface="Arial"/>
                <a:ea typeface="Arial"/>
                <a:cs typeface="Arial"/>
              </a:defRPr>
            </a:pPr>
            <a:r>
              <a:rPr sz="1875" b="0">
                <a:solidFill>
                  <a:srgbClr val="102A43"/>
                </a:solidFill>
                <a:latin typeface="Arial"/>
                <a:ea typeface="Arial"/>
                <a:cs typeface="Arial"/>
              </a:rPr>
              <a:t>- 40 preguntas y una persona revisora</a:t>
            </a:r>
          </a:p>
          <a:p xmlns:a="http://schemas.openxmlformats.org/drawingml/2006/main">
            <a:pPr algn="l">
              <a:lnSpc>
                <a:spcPct val="103000"/>
              </a:lnSpc>
              <a:buNone/>
              <a:defRPr sz="1875" b="0">
                <a:solidFill>
                  <a:srgbClr val="102A43"/>
                </a:solidFill>
                <a:latin typeface="Arial"/>
                <a:ea typeface="Arial"/>
                <a:cs typeface="Arial"/>
              </a:defRPr>
            </a:pPr>
            <a:r>
              <a:rPr sz="1875" b="0">
                <a:solidFill>
                  <a:srgbClr val="102A43"/>
                </a:solidFill>
                <a:latin typeface="Arial"/>
                <a:ea typeface="Arial"/>
                <a:cs typeface="Arial"/>
              </a:rPr>
              <a:t>- Sin comparación léxica, híbrida ni reranking</a:t>
            </a:r>
          </a:p>
          <a:p xmlns:a="http://schemas.openxmlformats.org/drawingml/2006/main">
            <a:r>
              <a:t/>
            </a:r>
          </a:p>
          <a:p xmlns:a="http://schemas.openxmlformats.org/drawingml/2006/main">
            <a:pPr algn="l">
              <a:lnSpc>
                <a:spcPct val="103000"/>
              </a:lnSpc>
              <a:buNone/>
              <a:defRPr sz="1875" b="0">
                <a:solidFill>
                  <a:srgbClr val="102A43"/>
                </a:solidFill>
                <a:latin typeface="Arial"/>
                <a:ea typeface="Arial"/>
                <a:cs typeface="Arial"/>
              </a:defRPr>
            </a:pPr>
            <a:r>
              <a:rPr sz="1875" b="0">
                <a:solidFill>
                  <a:srgbClr val="102A43"/>
                </a:solidFill>
                <a:latin typeface="Arial"/>
                <a:ea typeface="Arial"/>
                <a:cs typeface="Arial"/>
              </a:rPr>
              <a:t>Siguientes pasos</a:t>
            </a:r>
          </a:p>
          <a:p xmlns:a="http://schemas.openxmlformats.org/drawingml/2006/main">
            <a:pPr algn="l">
              <a:lnSpc>
                <a:spcPct val="103000"/>
              </a:lnSpc>
              <a:buNone/>
              <a:defRPr sz="1875" b="0">
                <a:solidFill>
                  <a:srgbClr val="102A43"/>
                </a:solidFill>
                <a:latin typeface="Arial"/>
                <a:ea typeface="Arial"/>
                <a:cs typeface="Arial"/>
              </a:defRPr>
            </a:pPr>
            <a:r>
              <a:rPr sz="1875" b="0">
                <a:solidFill>
                  <a:srgbClr val="102A43"/>
                </a:solidFill>
                <a:latin typeface="Arial"/>
                <a:ea typeface="Arial"/>
                <a:cs typeface="Arial"/>
              </a:rPr>
              <a:t>- Reranking para evidencia multisección</a:t>
            </a:r>
          </a:p>
          <a:p xmlns:a="http://schemas.openxmlformats.org/drawingml/2006/main">
            <a:pPr algn="l">
              <a:lnSpc>
                <a:spcPct val="103000"/>
              </a:lnSpc>
              <a:buNone/>
              <a:defRPr sz="1875" b="0">
                <a:solidFill>
                  <a:srgbClr val="102A43"/>
                </a:solidFill>
                <a:latin typeface="Arial"/>
                <a:ea typeface="Arial"/>
                <a:cs typeface="Arial"/>
              </a:defRPr>
            </a:pPr>
            <a:r>
              <a:rPr sz="1875" b="0">
                <a:solidFill>
                  <a:srgbClr val="102A43"/>
                </a:solidFill>
                <a:latin typeface="Arial"/>
                <a:ea typeface="Arial"/>
                <a:cs typeface="Arial"/>
              </a:rPr>
              <a:t>- Comparar recuperación densa, léxica e híbrida</a:t>
            </a:r>
          </a:p>
          <a:p xmlns:a="http://schemas.openxmlformats.org/drawingml/2006/main">
            <a:pPr algn="l">
              <a:lnSpc>
                <a:spcPct val="103000"/>
              </a:lnSpc>
              <a:buNone/>
              <a:defRPr sz="1875" b="0">
                <a:solidFill>
                  <a:srgbClr val="102A43"/>
                </a:solidFill>
                <a:latin typeface="Arial"/>
                <a:ea typeface="Arial"/>
                <a:cs typeface="Arial"/>
              </a:defRPr>
            </a:pPr>
            <a:r>
              <a:rPr sz="1875" b="0">
                <a:solidFill>
                  <a:srgbClr val="102A43"/>
                </a:solidFill>
                <a:latin typeface="Arial"/>
                <a:ea typeface="Arial"/>
                <a:cs typeface="Arial"/>
              </a:rPr>
              <a:t>- Ampliar países, dominios y revisión humana</a:t>
            </a:r>
          </a:p>
        </p:txBody>
      </p:sp>
      <p:sp>
        <p:nvSpPr>
          <p:cNvPr id="116" name="repo-panel">
            <a:extLst xmlns:a="http://schemas.openxmlformats.org/drawingml/2006/main">
              <a:ext uri="{FF2B5EF4-FFF2-40B4-BE49-F238E27FC236}">
                <a16:creationId xmlns:a16="http://schemas.microsoft.com/office/drawing/2014/main" id="{109D452A-3205-4D36-9310-6D911176AF76}"/>
              </a:ext>
            </a:extLst>
          </p:cNvPr>
          <p:cNvSpPr>
            <a:spLocks xmlns:a="http://schemas.openxmlformats.org/drawingml/2006/main" noGrp="1"/>
          </p:cNvSpPr>
          <p:nvPr/>
        </p:nvSpPr>
        <p:spPr>
          <a:xfrm xmlns:a="http://schemas.openxmlformats.org/drawingml/2006/main">
            <a:off x="20250150" y="36909375"/>
            <a:ext cx="8867775" cy="1809750"/>
          </a:xfrm>
          <a:prstGeom xmlns:a="http://schemas.openxmlformats.org/drawingml/2006/main" prst="roundRect">
            <a:avLst>
              <a:gd name="adj" fmla="val 4211"/>
            </a:avLst>
          </a:prstGeom>
          <a:solidFill xmlns:a="http://schemas.openxmlformats.org/drawingml/2006/main">
            <a:srgbClr val="E6F4F1"/>
          </a:solidFill>
          <a:ln xmlns:a="http://schemas.openxmlformats.org/drawingml/2006/main" w="19050">
            <a:solidFill>
              <a:srgbClr val="0F766E"/>
            </a:solidFill>
            <a:prstDash val="solid"/>
          </a:ln>
        </p:spPr>
      </p:sp>
      <p:sp>
        <p:nvSpPr>
          <p:cNvPr id="117" name="repo-label">
            <a:extLst xmlns:a="http://schemas.openxmlformats.org/drawingml/2006/main">
              <a:ext uri="{FF2B5EF4-FFF2-40B4-BE49-F238E27FC236}">
                <a16:creationId xmlns:a16="http://schemas.microsoft.com/office/drawing/2014/main" id="{2681F672-55F5-4824-A505-4E6FD753684B}"/>
              </a:ext>
            </a:extLst>
          </p:cNvPr>
          <p:cNvSpPr>
            <a:spLocks xmlns:a="http://schemas.openxmlformats.org/drawingml/2006/main" noGrp="1"/>
          </p:cNvSpPr>
          <p:nvPr/>
        </p:nvSpPr>
        <p:spPr>
          <a:xfrm xmlns:a="http://schemas.openxmlformats.org/drawingml/2006/main">
            <a:off x="20535900" y="37099875"/>
            <a:ext cx="82962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0F766E"/>
                </a:solidFill>
                <a:latin typeface="Arial"/>
                <a:ea typeface="Arial"/>
                <a:cs typeface="Arial"/>
              </a:defRPr>
            </a:pPr>
            <a:r>
              <a:rPr sz="1500" b="1">
                <a:solidFill>
                  <a:srgbClr val="0F766E"/>
                </a:solidFill>
                <a:latin typeface="Arial"/>
                <a:ea typeface="Arial"/>
                <a:cs typeface="Arial"/>
              </a:rPr>
              <a:t>CÓDIGO, DATOS Y DOCUMENTACIÓN</a:t>
            </a:r>
          </a:p>
        </p:txBody>
      </p:sp>
      <p:sp>
        <p:nvSpPr>
          <p:cNvPr id="118" name="repo-url">
            <a:extLst xmlns:a="http://schemas.openxmlformats.org/drawingml/2006/main">
              <a:ext uri="{FF2B5EF4-FFF2-40B4-BE49-F238E27FC236}">
                <a16:creationId xmlns:a16="http://schemas.microsoft.com/office/drawing/2014/main" id="{88B647E6-387B-41A1-A56B-2780DF0BC97B}"/>
              </a:ext>
            </a:extLst>
          </p:cNvPr>
          <p:cNvSpPr>
            <a:spLocks xmlns:a="http://schemas.openxmlformats.org/drawingml/2006/main" noGrp="1"/>
          </p:cNvSpPr>
          <p:nvPr/>
        </p:nvSpPr>
        <p:spPr>
          <a:xfrm xmlns:a="http://schemas.openxmlformats.org/drawingml/2006/main">
            <a:off x="20535900" y="37604700"/>
            <a:ext cx="82962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325" b="1">
                <a:solidFill>
                  <a:srgbClr val="0B5F58"/>
                </a:solidFill>
                <a:latin typeface="Arial"/>
                <a:ea typeface="Arial"/>
                <a:cs typeface="Arial"/>
              </a:defRPr>
            </a:pPr>
            <a:r>
              <a:rPr sz="2325" b="1">
                <a:solidFill>
                  <a:srgbClr val="0B5F58"/>
                </a:solidFill>
                <a:latin typeface="Arial"/>
                <a:ea typeface="Arial"/>
                <a:cs typeface="Arial"/>
                <a:hlinkClick xmlns:r="http://schemas.openxmlformats.org/officeDocument/2006/relationships" r:id="Rdce88f89efdd463b"/>
              </a:rPr>
              <a:t>github.com/niparra21/nlpArgentina</a:t>
            </a:r>
          </a:p>
        </p:txBody>
      </p:sp>
      <p:sp>
        <p:nvSpPr>
          <p:cNvPr id="119" name="footer-rule">
            <a:extLst xmlns:a="http://schemas.openxmlformats.org/drawingml/2006/main">
              <a:ext uri="{FF2B5EF4-FFF2-40B4-BE49-F238E27FC236}">
                <a16:creationId xmlns:a16="http://schemas.microsoft.com/office/drawing/2014/main" id="{2D6055EE-03B2-44DB-9A40-A05F70674F4B}"/>
              </a:ext>
            </a:extLst>
          </p:cNvPr>
          <p:cNvSpPr>
            <a:spLocks xmlns:a="http://schemas.openxmlformats.org/drawingml/2006/main" noGrp="1"/>
          </p:cNvSpPr>
          <p:nvPr/>
        </p:nvSpPr>
        <p:spPr>
          <a:xfrm xmlns:a="http://schemas.openxmlformats.org/drawingml/2006/main">
            <a:off x="1143000" y="40481250"/>
            <a:ext cx="27993975" cy="28575"/>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120" name="references">
            <a:extLst xmlns:a="http://schemas.openxmlformats.org/drawingml/2006/main">
              <a:ext uri="{FF2B5EF4-FFF2-40B4-BE49-F238E27FC236}">
                <a16:creationId xmlns:a16="http://schemas.microsoft.com/office/drawing/2014/main" id="{6408834F-9BEA-4F1B-90BC-3ECC288F79D2}"/>
              </a:ext>
            </a:extLst>
          </p:cNvPr>
          <p:cNvSpPr>
            <a:spLocks xmlns:a="http://schemas.openxmlformats.org/drawingml/2006/main" noGrp="1"/>
          </p:cNvSpPr>
          <p:nvPr/>
        </p:nvSpPr>
        <p:spPr>
          <a:xfrm xmlns:a="http://schemas.openxmlformats.org/drawingml/2006/main">
            <a:off x="1143000" y="40767000"/>
            <a:ext cx="2314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0">
                <a:solidFill>
                  <a:srgbClr val="52606D"/>
                </a:solidFill>
                <a:latin typeface="Arial"/>
                <a:ea typeface="Arial"/>
                <a:cs typeface="Arial"/>
              </a:defRPr>
            </a:pPr>
            <a:r>
              <a:rPr sz="1500" b="0">
                <a:solidFill>
                  <a:srgbClr val="52606D"/>
                </a:solidFill>
                <a:latin typeface="Arial"/>
                <a:ea typeface="Arial"/>
                <a:cs typeface="Arial"/>
              </a:rPr>
              <a:t>Referencias: Lewis et al. (2020), Retrieval-Augmented Generation for Knowledge-Intensive NLP Tasks · Wang et al. (2024), Multilingual E5 Text Embeddings · Fuentes del caso: reglamentos oficiales del TEC.</a:t>
            </a:r>
          </a:p>
        </p:txBody>
      </p:sp>
      <p:sp>
        <p:nvSpPr>
          <p:cNvPr id="121" name="poster-logistics">
            <a:extLst xmlns:a="http://schemas.openxmlformats.org/drawingml/2006/main">
              <a:ext uri="{FF2B5EF4-FFF2-40B4-BE49-F238E27FC236}">
                <a16:creationId xmlns:a16="http://schemas.microsoft.com/office/drawing/2014/main" id="{99A9E9D3-CFC2-49CB-BB13-98150C31EDE8}"/>
              </a:ext>
            </a:extLst>
          </p:cNvPr>
          <p:cNvSpPr>
            <a:spLocks xmlns:a="http://schemas.openxmlformats.org/drawingml/2006/main" noGrp="1"/>
          </p:cNvSpPr>
          <p:nvPr/>
        </p:nvSpPr>
        <p:spPr>
          <a:xfrm xmlns:a="http://schemas.openxmlformats.org/drawingml/2006/main">
            <a:off x="24765000" y="40767000"/>
            <a:ext cx="4371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725" b="1">
                <a:solidFill>
                  <a:srgbClr val="102A43"/>
                </a:solidFill>
                <a:latin typeface="Arial"/>
                <a:ea typeface="Arial"/>
                <a:cs typeface="Arial"/>
              </a:defRPr>
            </a:pPr>
            <a:r>
              <a:rPr sz="1725" b="1">
                <a:solidFill>
                  <a:srgbClr val="102A43"/>
                </a:solidFill>
                <a:latin typeface="Arial"/>
                <a:ea typeface="Arial"/>
                <a:cs typeface="Arial"/>
              </a:rPr>
              <a:t>Sesión 2 · Orden 12</a:t>
            </a:r>
          </a:p>
        </p:txBody>
      </p:sp>
      <p:sp>
        <p:nvSpPr>
          <p:cNvPr id="122" name="disclaimer">
            <a:extLst xmlns:a="http://schemas.openxmlformats.org/drawingml/2006/main">
              <a:ext uri="{FF2B5EF4-FFF2-40B4-BE49-F238E27FC236}">
                <a16:creationId xmlns:a16="http://schemas.microsoft.com/office/drawing/2014/main" id="{31301437-F20C-4B57-8AE7-66A109386DC7}"/>
              </a:ext>
            </a:extLst>
          </p:cNvPr>
          <p:cNvSpPr>
            <a:spLocks xmlns:a="http://schemas.openxmlformats.org/drawingml/2006/main" noGrp="1"/>
          </p:cNvSpPr>
          <p:nvPr/>
        </p:nvSpPr>
        <p:spPr>
          <a:xfrm xmlns:a="http://schemas.openxmlformats.org/drawingml/2006/main">
            <a:off x="1143000" y="41719500"/>
            <a:ext cx="27993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0">
                <a:solidFill>
                  <a:srgbClr val="52606D"/>
                </a:solidFill>
                <a:latin typeface="Arial"/>
                <a:ea typeface="Arial"/>
                <a:cs typeface="Arial"/>
              </a:defRPr>
            </a:pPr>
            <a:r>
              <a:rPr sz="1425" b="0">
                <a:solidFill>
                  <a:srgbClr val="52606D"/>
                </a:solidFill>
                <a:latin typeface="Arial"/>
                <a:ea typeface="Arial"/>
                <a:cs typeface="Arial"/>
              </a:rPr>
              <a:t>Los resultados corresponden a una corrida reproducible del prototipo y no sustituyen la consulta de la normativa oficial.</a:t>
            </a:r>
          </a:p>
        </p:txBody>
      </p:sp>
    </p:spTree>
    <p:extLst>
      <p:ext uri="{BB962C8B-B14F-4D97-AF65-F5344CB8AC3E}">
        <p14:creationId xmlns:p14="http://schemas.microsoft.com/office/powerpoint/2010/main" val="18764539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2026-07-29T00:32:38.8240000Z</dcterms:created>
  <dcterms:modified xsi:type="dcterms:W3CDTF">2026-07-29T00:32:38.8240000Z</dcterms:modified>
</coreProperties>
</file>